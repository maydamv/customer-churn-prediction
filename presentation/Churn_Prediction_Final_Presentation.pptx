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defense of the churn prediction project. We predict which subscribers will cancel within 30 days so the retention team can act early. On the right is the live demo we will run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domain is subscription businesses — SaaS, content, wellness. They all live on recurring revenue, so keeping customers matters as much as acquiring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is silent churn. It matters because retaining a customer is far cheaper than acquiring a new one — a 5% retention lift can raise profits 25 to 95%. Our goal: cut monthly churn by 20% relative.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Formally: supervised binary classification. Target is whether a customer cancels within 30 days. We optimise F2 because recall matters more than precision here, and we validate on a time-based split to mimic production and avoid leakage.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solution is a full pipeline: adapt the data, handle imbalance and train several models, evaluate on a future test set, explain predictions with SHAP, and turn weekly scores into concrete retention 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start from the real Kaggle Telco dataset and adapt it to a subscription scenario, adding five engagement features the literature flags as the strongest churn signals, then downsample to a realistic 5% churn. The chart shows churners and non-churners separate on these behaviours.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models trained. Random Forest is the best by F2. It hits the proposal targets — AUC around 0.93 and churner recall around 0.84. Precision is low, which is normal at a 5% base rate when we deliberately favour recall; the PR curve and confusion matrix show the trade-off.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Interpretability is non-negotiable for a retention team. SHAP shows, per customer, which features push the risk up or down — and the top drivers line up with the domain, so interventions can be personalised.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Addressing the reviewer feedback: instead of asserting 20%, we derive it — reduction equals recall times how often an intervention works. That gives the proposal's 22K first-year and 42K thereafter. The sensitivity analysis also exposes a real limitation: low precision means high outreach volume, so improving precision matters before scaling.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live demo — the actual trained model served by a small Flask app. On the left, an at-risk customer: 94.9% churn, high risk, with the action and the SHAP drivers. On the right, a loyal customer: 1.1%, low risk, drivers pushing toward staying. I'll reproduce both live in the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the project meets its technical targets, is explainable and production-shaped, and has a transparent, stress-tested ROI. Next steps are a pilot, A/B testing the interventions, and improving precision before scaling. Code is on GitHub.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220"/>
        </a:solidFill>
      </p:bgPr>
    </p:bg>
    <p:spTree>
      <p:nvGrpSpPr>
        <p:cNvPr id="1" name=""/>
        <p:cNvGrpSpPr/>
        <p:nvPr/>
      </p:nvGrpSpPr>
      <p:grpSpPr>
        <a:xfrm>
          <a:off x="0" y="0"/>
          <a:ext cx="0" cy="0"/>
          <a:chOff x="0" y="0"/>
          <a:chExt cx="0" cy="0"/>
        </a:xfrm>
      </p:grpSpPr>
      <p:sp>
        <p:nvSpPr>
          <p:cNvPr id="2" name="Shape 0"/>
          <p:cNvSpPr/>
          <p:nvPr/>
        </p:nvSpPr>
        <p:spPr>
          <a:xfrm>
            <a:off x="-1097280" y="-1371600"/>
            <a:ext cx="4572000" cy="4572000"/>
          </a:xfrm>
          <a:prstGeom prst="roundRect">
            <a:avLst>
              <a:gd name="adj" fmla="val 50000"/>
            </a:avLst>
          </a:prstGeom>
          <a:solidFill>
            <a:srgbClr val="6C8CFF">
              <a:alpha val="12000"/>
            </a:srgbClr>
          </a:solidFill>
          <a:ln/>
        </p:spPr>
      </p:sp>
      <p:sp>
        <p:nvSpPr>
          <p:cNvPr id="3" name="Shape 1"/>
          <p:cNvSpPr/>
          <p:nvPr/>
        </p:nvSpPr>
        <p:spPr>
          <a:xfrm>
            <a:off x="8686800" y="4206240"/>
            <a:ext cx="4572000" cy="4572000"/>
          </a:xfrm>
          <a:prstGeom prst="roundRect">
            <a:avLst>
              <a:gd name="adj" fmla="val 50000"/>
            </a:avLst>
          </a:prstGeom>
          <a:solidFill>
            <a:srgbClr val="EF4767">
              <a:alpha val="10000"/>
            </a:srgbClr>
          </a:solidFill>
          <a:ln/>
        </p:spPr>
      </p:sp>
      <p:sp>
        <p:nvSpPr>
          <p:cNvPr id="4" name="Text 2"/>
          <p:cNvSpPr/>
          <p:nvPr/>
        </p:nvSpPr>
        <p:spPr>
          <a:xfrm>
            <a:off x="822960" y="1234440"/>
            <a:ext cx="7315200" cy="320040"/>
          </a:xfrm>
          <a:prstGeom prst="rect">
            <a:avLst/>
          </a:prstGeom>
          <a:noFill/>
          <a:ln/>
        </p:spPr>
        <p:txBody>
          <a:bodyPr wrap="square" lIns="0" tIns="0" rIns="0" bIns="0" rtlCol="0" anchor="ctr"/>
          <a:lstStyle/>
          <a:p>
            <a:pPr indent="0" marL="0">
              <a:buNone/>
            </a:pPr>
            <a:r>
              <a:rPr lang="en-US" sz="1400" b="1" spc="200" kern="0" dirty="0">
                <a:solidFill>
                  <a:srgbClr val="6C8CFF"/>
                </a:solidFill>
                <a:latin typeface="Calibri" pitchFamily="34" charset="0"/>
                <a:ea typeface="Calibri" pitchFamily="34" charset="-122"/>
                <a:cs typeface="Calibri" pitchFamily="34" charset="-120"/>
              </a:rPr>
              <a:t>FINAL PROJECT · MACHINE LEARNING</a:t>
            </a:r>
            <a:endParaRPr lang="en-US" sz="1400" dirty="0"/>
          </a:p>
        </p:txBody>
      </p:sp>
      <p:sp>
        <p:nvSpPr>
          <p:cNvPr id="5" name="Text 3"/>
          <p:cNvSpPr/>
          <p:nvPr/>
        </p:nvSpPr>
        <p:spPr>
          <a:xfrm>
            <a:off x="777240" y="1645920"/>
            <a:ext cx="7498080" cy="1737360"/>
          </a:xfrm>
          <a:prstGeom prst="rect">
            <a:avLst/>
          </a:prstGeom>
          <a:noFill/>
          <a:ln/>
        </p:spPr>
        <p:txBody>
          <a:bodyPr wrap="square" lIns="0" tIns="0" rIns="0" bIns="0" rtlCol="0" anchor="ctr"/>
          <a:lstStyle/>
          <a:p>
            <a:pPr indent="0" marL="0">
              <a:lnSpc>
                <a:spcPct val="100000"/>
              </a:lnSpc>
              <a:buNone/>
            </a:pPr>
            <a:r>
              <a:rPr lang="en-US" sz="4000" b="1" dirty="0">
                <a:solidFill>
                  <a:srgbClr val="FFFFFF"/>
                </a:solidFill>
                <a:latin typeface="Bookman Old Style" pitchFamily="34" charset="0"/>
                <a:ea typeface="Bookman Old Style" pitchFamily="34" charset="-122"/>
                <a:cs typeface="Bookman Old Style" pitchFamily="34" charset="-120"/>
              </a:rPr>
              <a:t>Customer Churn Prediction</a:t>
            </a:r>
            <a:endParaRPr lang="en-US" sz="4000" dirty="0"/>
          </a:p>
          <a:p>
            <a:pPr indent="0" marL="0">
              <a:lnSpc>
                <a:spcPct val="100000"/>
              </a:lnSpc>
              <a:buNone/>
            </a:pPr>
            <a:r>
              <a:rPr lang="en-US" sz="4000" b="1" dirty="0">
                <a:solidFill>
                  <a:srgbClr val="FFFFFF"/>
                </a:solidFill>
                <a:latin typeface="Bookman Old Style" pitchFamily="34" charset="0"/>
                <a:ea typeface="Bookman Old Style" pitchFamily="34" charset="-122"/>
                <a:cs typeface="Bookman Old Style" pitchFamily="34" charset="-120"/>
              </a:rPr>
              <a:t>for Subscription Businesses</a:t>
            </a:r>
            <a:endParaRPr lang="en-US" sz="4000" dirty="0"/>
          </a:p>
        </p:txBody>
      </p:sp>
      <p:sp>
        <p:nvSpPr>
          <p:cNvPr id="6" name="Text 4"/>
          <p:cNvSpPr/>
          <p:nvPr/>
        </p:nvSpPr>
        <p:spPr>
          <a:xfrm>
            <a:off x="822960" y="3429000"/>
            <a:ext cx="7315200" cy="457200"/>
          </a:xfrm>
          <a:prstGeom prst="rect">
            <a:avLst/>
          </a:prstGeom>
          <a:noFill/>
          <a:ln/>
        </p:spPr>
        <p:txBody>
          <a:bodyPr wrap="square" lIns="0" tIns="0" rIns="0" bIns="0" rtlCol="0" anchor="ctr"/>
          <a:lstStyle/>
          <a:p>
            <a:pPr indent="0" marL="0">
              <a:buNone/>
            </a:pPr>
            <a:r>
              <a:rPr lang="en-US" sz="1800" i="1" dirty="0">
                <a:solidFill>
                  <a:srgbClr val="D8DCEF"/>
                </a:solidFill>
                <a:latin typeface="Calibri" pitchFamily="34" charset="0"/>
                <a:ea typeface="Calibri" pitchFamily="34" charset="-122"/>
                <a:cs typeface="Calibri" pitchFamily="34" charset="-120"/>
              </a:rPr>
              <a:t>Using machine learning to retain more and earn more</a:t>
            </a:r>
            <a:endParaRPr lang="en-US" sz="1800" dirty="0"/>
          </a:p>
        </p:txBody>
      </p:sp>
      <p:sp>
        <p:nvSpPr>
          <p:cNvPr id="7" name="Text 5"/>
          <p:cNvSpPr/>
          <p:nvPr/>
        </p:nvSpPr>
        <p:spPr>
          <a:xfrm>
            <a:off x="822960" y="4114800"/>
            <a:ext cx="731520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Mayda Morales</a:t>
            </a:r>
            <a:pPr indent="0" marL="0">
              <a:buNone/>
            </a:pPr>
            <a:r>
              <a:rPr lang="en-US" sz="1500" dirty="0">
                <a:solidFill>
                  <a:srgbClr val="9AA0BD"/>
                </a:solidFill>
                <a:latin typeface="Calibri" pitchFamily="34" charset="0"/>
                <a:ea typeface="Calibri" pitchFamily="34" charset="-122"/>
                <a:cs typeface="Calibri" pitchFamily="34" charset="-120"/>
              </a:rPr>
              <a:t>     Harbour Space</a:t>
            </a:r>
            <a:endParaRPr lang="en-US" sz="1500" dirty="0"/>
          </a:p>
        </p:txBody>
      </p:sp>
      <p:sp>
        <p:nvSpPr>
          <p:cNvPr id="8" name="Shape 6"/>
          <p:cNvSpPr/>
          <p:nvPr/>
        </p:nvSpPr>
        <p:spPr>
          <a:xfrm>
            <a:off x="8732520" y="1965960"/>
            <a:ext cx="2834640" cy="2926080"/>
          </a:xfrm>
          <a:prstGeom prst="roundRect">
            <a:avLst>
              <a:gd name="adj" fmla="val 3871"/>
            </a:avLst>
          </a:prstGeom>
          <a:solidFill>
            <a:srgbClr val="1A1E30"/>
          </a:solidFill>
          <a:ln w="12700">
            <a:solidFill>
              <a:srgbClr val="2E3450"/>
            </a:solidFill>
            <a:prstDash val="solid"/>
          </a:ln>
        </p:spPr>
      </p:sp>
      <p:sp>
        <p:nvSpPr>
          <p:cNvPr id="9" name="Text 7"/>
          <p:cNvSpPr/>
          <p:nvPr/>
        </p:nvSpPr>
        <p:spPr>
          <a:xfrm>
            <a:off x="8732520" y="2194560"/>
            <a:ext cx="2834640" cy="274320"/>
          </a:xfrm>
          <a:prstGeom prst="rect">
            <a:avLst/>
          </a:prstGeom>
          <a:noFill/>
          <a:ln/>
        </p:spPr>
        <p:txBody>
          <a:bodyPr wrap="square" lIns="0" tIns="0" rIns="0" bIns="0" rtlCol="0" anchor="ctr"/>
          <a:lstStyle/>
          <a:p>
            <a:pPr algn="ctr" indent="0" marL="0">
              <a:buNone/>
            </a:pPr>
            <a:r>
              <a:rPr lang="en-US" sz="1100" b="1" spc="100" kern="0" dirty="0">
                <a:solidFill>
                  <a:srgbClr val="9AA0BD"/>
                </a:solidFill>
                <a:latin typeface="Calibri" pitchFamily="34" charset="0"/>
                <a:ea typeface="Calibri" pitchFamily="34" charset="-122"/>
                <a:cs typeface="Calibri" pitchFamily="34" charset="-120"/>
              </a:rPr>
              <a:t>AT-RISK CUSTOMER</a:t>
            </a:r>
            <a:endParaRPr lang="en-US" sz="1100" dirty="0"/>
          </a:p>
        </p:txBody>
      </p:sp>
      <p:sp>
        <p:nvSpPr>
          <p:cNvPr id="10" name="Text 8"/>
          <p:cNvSpPr/>
          <p:nvPr/>
        </p:nvSpPr>
        <p:spPr>
          <a:xfrm>
            <a:off x="8732520" y="2514600"/>
            <a:ext cx="2834640" cy="1005840"/>
          </a:xfrm>
          <a:prstGeom prst="rect">
            <a:avLst/>
          </a:prstGeom>
          <a:noFill/>
          <a:ln/>
        </p:spPr>
        <p:txBody>
          <a:bodyPr wrap="square" lIns="0" tIns="0" rIns="0" bIns="0" rtlCol="0" anchor="ctr"/>
          <a:lstStyle/>
          <a:p>
            <a:pPr algn="ctr" indent="0" marL="0">
              <a:buNone/>
            </a:pPr>
            <a:r>
              <a:rPr lang="en-US" sz="5400" b="1" dirty="0">
                <a:solidFill>
                  <a:srgbClr val="EF4767"/>
                </a:solidFill>
                <a:latin typeface="Bookman Old Style" pitchFamily="34" charset="0"/>
                <a:ea typeface="Bookman Old Style" pitchFamily="34" charset="-122"/>
                <a:cs typeface="Bookman Old Style" pitchFamily="34" charset="-120"/>
              </a:rPr>
              <a:t>94.9%</a:t>
            </a:r>
            <a:endParaRPr lang="en-US" sz="5400" dirty="0"/>
          </a:p>
        </p:txBody>
      </p:sp>
      <p:sp>
        <p:nvSpPr>
          <p:cNvPr id="11" name="Text 9"/>
          <p:cNvSpPr/>
          <p:nvPr/>
        </p:nvSpPr>
        <p:spPr>
          <a:xfrm>
            <a:off x="8732520" y="3520440"/>
            <a:ext cx="2834640" cy="274320"/>
          </a:xfrm>
          <a:prstGeom prst="rect">
            <a:avLst/>
          </a:prstGeom>
          <a:noFill/>
          <a:ln/>
        </p:spPr>
        <p:txBody>
          <a:bodyPr wrap="square" lIns="0" tIns="0" rIns="0" bIns="0" rtlCol="0" anchor="ctr"/>
          <a:lstStyle/>
          <a:p>
            <a:pPr algn="ctr" indent="0" marL="0">
              <a:buNone/>
            </a:pPr>
            <a:r>
              <a:rPr lang="en-US" sz="1200" dirty="0">
                <a:solidFill>
                  <a:srgbClr val="D8DCEF"/>
                </a:solidFill>
                <a:latin typeface="Calibri" pitchFamily="34" charset="0"/>
                <a:ea typeface="Calibri" pitchFamily="34" charset="-122"/>
                <a:cs typeface="Calibri" pitchFamily="34" charset="-120"/>
              </a:rPr>
              <a:t>churn probability</a:t>
            </a:r>
            <a:endParaRPr lang="en-US" sz="1200" dirty="0"/>
          </a:p>
        </p:txBody>
      </p:sp>
      <p:sp>
        <p:nvSpPr>
          <p:cNvPr id="12" name="Shape 10"/>
          <p:cNvSpPr/>
          <p:nvPr/>
        </p:nvSpPr>
        <p:spPr>
          <a:xfrm>
            <a:off x="9555480" y="3886200"/>
            <a:ext cx="1188720" cy="384048"/>
          </a:xfrm>
          <a:prstGeom prst="roundRect">
            <a:avLst>
              <a:gd name="adj" fmla="val 50000"/>
            </a:avLst>
          </a:prstGeom>
          <a:solidFill>
            <a:srgbClr val="EF4767">
              <a:alpha val="18000"/>
            </a:srgbClr>
          </a:solidFill>
          <a:ln w="12700">
            <a:solidFill>
              <a:srgbClr val="EF4767"/>
            </a:solidFill>
            <a:prstDash val="solid"/>
          </a:ln>
        </p:spPr>
      </p:sp>
      <p:sp>
        <p:nvSpPr>
          <p:cNvPr id="13" name="Text 11"/>
          <p:cNvSpPr/>
          <p:nvPr/>
        </p:nvSpPr>
        <p:spPr>
          <a:xfrm>
            <a:off x="9555480" y="3895344"/>
            <a:ext cx="1188720" cy="365760"/>
          </a:xfrm>
          <a:prstGeom prst="rect">
            <a:avLst/>
          </a:prstGeom>
          <a:noFill/>
          <a:ln/>
        </p:spPr>
        <p:txBody>
          <a:bodyPr wrap="square" lIns="0" tIns="0" rIns="0" bIns="0" rtlCol="0" anchor="ctr"/>
          <a:lstStyle/>
          <a:p>
            <a:pPr algn="ctr" indent="0" marL="0">
              <a:buNone/>
            </a:pPr>
            <a:r>
              <a:rPr lang="en-US" sz="1200" b="1" dirty="0">
                <a:solidFill>
                  <a:srgbClr val="EF4767"/>
                </a:solidFill>
                <a:latin typeface="Calibri" pitchFamily="34" charset="0"/>
                <a:ea typeface="Calibri" pitchFamily="34" charset="-122"/>
                <a:cs typeface="Calibri" pitchFamily="34" charset="-120"/>
              </a:rPr>
              <a:t>HIGH RISK</a:t>
            </a:r>
            <a:endParaRPr lang="en-US" sz="1200" dirty="0"/>
          </a:p>
        </p:txBody>
      </p:sp>
      <p:sp>
        <p:nvSpPr>
          <p:cNvPr id="14" name="Text 12"/>
          <p:cNvSpPr/>
          <p:nvPr/>
        </p:nvSpPr>
        <p:spPr>
          <a:xfrm>
            <a:off x="8732520" y="4389120"/>
            <a:ext cx="2834640" cy="365760"/>
          </a:xfrm>
          <a:prstGeom prst="rect">
            <a:avLst/>
          </a:prstGeom>
          <a:noFill/>
          <a:ln/>
        </p:spPr>
        <p:txBody>
          <a:bodyPr wrap="square" lIns="0" tIns="0" rIns="0" bIns="0" rtlCol="0" anchor="ctr"/>
          <a:lstStyle/>
          <a:p>
            <a:pPr algn="ctr" indent="0" marL="0">
              <a:buNone/>
            </a:pPr>
            <a:r>
              <a:rPr lang="en-US" sz="1050" i="1" dirty="0">
                <a:solidFill>
                  <a:srgbClr val="9AA0BD"/>
                </a:solidFill>
                <a:latin typeface="Calibri" pitchFamily="34" charset="0"/>
                <a:ea typeface="Calibri" pitchFamily="34" charset="-122"/>
                <a:cs typeface="Calibri" pitchFamily="34" charset="-120"/>
              </a:rPr>
              <a:t>→ personal outreach + retention offer</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220"/>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300" b="1" spc="200" kern="0" dirty="0">
                <a:solidFill>
                  <a:srgbClr val="6C8CFF"/>
                </a:solidFill>
                <a:latin typeface="Calibri" pitchFamily="34" charset="0"/>
                <a:ea typeface="Calibri" pitchFamily="34" charset="-122"/>
                <a:cs typeface="Calibri" pitchFamily="34" charset="-120"/>
              </a:rPr>
              <a:t>DOMAIN</a:t>
            </a:r>
            <a:endParaRPr lang="en-US" sz="13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indent="0" marL="0">
              <a:buNone/>
            </a:pPr>
            <a:r>
              <a:rPr lang="en-US" sz="3000" b="1" dirty="0">
                <a:solidFill>
                  <a:srgbClr val="FFFFFF"/>
                </a:solidFill>
                <a:latin typeface="Bookman Old Style" pitchFamily="34" charset="0"/>
                <a:ea typeface="Bookman Old Style" pitchFamily="34" charset="-122"/>
                <a:cs typeface="Bookman Old Style" pitchFamily="34" charset="-120"/>
              </a:rPr>
              <a:t>Subscription businesses run on recurring revenue</a:t>
            </a:r>
            <a:endParaRPr lang="en-US" sz="3000" dirty="0"/>
          </a:p>
        </p:txBody>
      </p:sp>
      <p:sp>
        <p:nvSpPr>
          <p:cNvPr id="4" name="Shape 2"/>
          <p:cNvSpPr/>
          <p:nvPr/>
        </p:nvSpPr>
        <p:spPr>
          <a:xfrm>
            <a:off x="548640" y="1920240"/>
            <a:ext cx="3657600" cy="2468880"/>
          </a:xfrm>
          <a:prstGeom prst="roundRect">
            <a:avLst>
              <a:gd name="adj" fmla="val 4444"/>
            </a:avLst>
          </a:prstGeom>
          <a:solidFill>
            <a:srgbClr val="1A1E30"/>
          </a:solidFill>
          <a:ln w="12700">
            <a:solidFill>
              <a:srgbClr val="2E3450"/>
            </a:solidFill>
            <a:prstDash val="solid"/>
          </a:ln>
        </p:spPr>
      </p:sp>
      <p:sp>
        <p:nvSpPr>
          <p:cNvPr id="5" name="Shape 3"/>
          <p:cNvSpPr/>
          <p:nvPr/>
        </p:nvSpPr>
        <p:spPr>
          <a:xfrm>
            <a:off x="822960" y="2194560"/>
            <a:ext cx="502920" cy="502920"/>
          </a:xfrm>
          <a:prstGeom prst="roundRect">
            <a:avLst>
              <a:gd name="adj" fmla="val 49091"/>
            </a:avLst>
          </a:prstGeom>
          <a:solidFill>
            <a:srgbClr val="6C8CFF">
              <a:alpha val="22000"/>
            </a:srgbClr>
          </a:solidFill>
          <a:ln/>
        </p:spPr>
      </p:sp>
      <p:sp>
        <p:nvSpPr>
          <p:cNvPr id="6" name="Text 4"/>
          <p:cNvSpPr/>
          <p:nvPr/>
        </p:nvSpPr>
        <p:spPr>
          <a:xfrm>
            <a:off x="822960" y="2194560"/>
            <a:ext cx="502920" cy="502920"/>
          </a:xfrm>
          <a:prstGeom prst="rect">
            <a:avLst/>
          </a:prstGeom>
          <a:noFill/>
          <a:ln/>
        </p:spPr>
        <p:txBody>
          <a:bodyPr wrap="square" lIns="0" tIns="0" rIns="0" bIns="0" rtlCol="0" anchor="ctr"/>
          <a:lstStyle/>
          <a:p>
            <a:pPr algn="ctr" indent="0" marL="0">
              <a:buNone/>
            </a:pPr>
            <a:r>
              <a:rPr lang="en-US" sz="2000" b="1" dirty="0">
                <a:solidFill>
                  <a:srgbClr val="6C8CFF"/>
                </a:solidFill>
                <a:latin typeface="Bookman Old Style" pitchFamily="34" charset="0"/>
                <a:ea typeface="Bookman Old Style" pitchFamily="34" charset="-122"/>
                <a:cs typeface="Bookman Old Style" pitchFamily="34" charset="-120"/>
              </a:rPr>
              <a:t>1</a:t>
            </a:r>
            <a:endParaRPr lang="en-US" sz="2000" dirty="0"/>
          </a:p>
        </p:txBody>
      </p:sp>
      <p:sp>
        <p:nvSpPr>
          <p:cNvPr id="7" name="Text 5"/>
          <p:cNvSpPr/>
          <p:nvPr/>
        </p:nvSpPr>
        <p:spPr>
          <a:xfrm>
            <a:off x="822960" y="2834640"/>
            <a:ext cx="3108960" cy="457200"/>
          </a:xfrm>
          <a:prstGeom prst="rect">
            <a:avLst/>
          </a:prstGeom>
          <a:noFill/>
          <a:ln/>
        </p:spPr>
        <p:txBody>
          <a:bodyPr wrap="square" lIns="0" tIns="0" rIns="0" bIns="0" rtlCol="0" anchor="ctr"/>
          <a:lstStyle/>
          <a:p>
            <a:pPr indent="0" marL="0">
              <a:buNone/>
            </a:pPr>
            <a:r>
              <a:rPr lang="en-US" sz="1700" b="1" dirty="0">
                <a:solidFill>
                  <a:srgbClr val="FFFFFF"/>
                </a:solidFill>
                <a:latin typeface="Bookman Old Style" pitchFamily="34" charset="0"/>
                <a:ea typeface="Bookman Old Style" pitchFamily="34" charset="-122"/>
                <a:cs typeface="Bookman Old Style" pitchFamily="34" charset="-120"/>
              </a:rPr>
              <a:t>SaaS &amp; cloud tools</a:t>
            </a:r>
            <a:endParaRPr lang="en-US" sz="1700" dirty="0"/>
          </a:p>
        </p:txBody>
      </p:sp>
      <p:sp>
        <p:nvSpPr>
          <p:cNvPr id="8" name="Text 6"/>
          <p:cNvSpPr/>
          <p:nvPr/>
        </p:nvSpPr>
        <p:spPr>
          <a:xfrm>
            <a:off x="822960" y="3291840"/>
            <a:ext cx="3108960" cy="960120"/>
          </a:xfrm>
          <a:prstGeom prst="rect">
            <a:avLst/>
          </a:prstGeom>
          <a:noFill/>
          <a:ln/>
        </p:spPr>
        <p:txBody>
          <a:bodyPr wrap="square" lIns="0" tIns="0" rIns="0" bIns="0" rtlCol="0" anchor="ctr"/>
          <a:lstStyle/>
          <a:p>
            <a:pPr indent="0" marL="0">
              <a:buNone/>
            </a:pPr>
            <a:r>
              <a:rPr lang="en-US" sz="1300" dirty="0">
                <a:solidFill>
                  <a:srgbClr val="9AA0BD"/>
                </a:solidFill>
                <a:latin typeface="Calibri" pitchFamily="34" charset="0"/>
                <a:ea typeface="Calibri" pitchFamily="34" charset="-122"/>
                <a:cs typeface="Calibri" pitchFamily="34" charset="-120"/>
              </a:rPr>
              <a:t>Monthly or annual seats; revenue depends on customers renewing, not buying once.</a:t>
            </a:r>
            <a:endParaRPr lang="en-US" sz="1300" dirty="0"/>
          </a:p>
        </p:txBody>
      </p:sp>
      <p:sp>
        <p:nvSpPr>
          <p:cNvPr id="9" name="Shape 7"/>
          <p:cNvSpPr/>
          <p:nvPr/>
        </p:nvSpPr>
        <p:spPr>
          <a:xfrm>
            <a:off x="4434840" y="1920240"/>
            <a:ext cx="3657600" cy="2468880"/>
          </a:xfrm>
          <a:prstGeom prst="roundRect">
            <a:avLst>
              <a:gd name="adj" fmla="val 4444"/>
            </a:avLst>
          </a:prstGeom>
          <a:solidFill>
            <a:srgbClr val="1A1E30"/>
          </a:solidFill>
          <a:ln w="12700">
            <a:solidFill>
              <a:srgbClr val="2E3450"/>
            </a:solidFill>
            <a:prstDash val="solid"/>
          </a:ln>
        </p:spPr>
      </p:sp>
      <p:sp>
        <p:nvSpPr>
          <p:cNvPr id="10" name="Shape 8"/>
          <p:cNvSpPr/>
          <p:nvPr/>
        </p:nvSpPr>
        <p:spPr>
          <a:xfrm>
            <a:off x="4709160" y="2194560"/>
            <a:ext cx="502920" cy="502920"/>
          </a:xfrm>
          <a:prstGeom prst="roundRect">
            <a:avLst>
              <a:gd name="adj" fmla="val 49091"/>
            </a:avLst>
          </a:prstGeom>
          <a:solidFill>
            <a:srgbClr val="6C8CFF">
              <a:alpha val="22000"/>
            </a:srgbClr>
          </a:solidFill>
          <a:ln/>
        </p:spPr>
      </p:sp>
      <p:sp>
        <p:nvSpPr>
          <p:cNvPr id="11" name="Text 9"/>
          <p:cNvSpPr/>
          <p:nvPr/>
        </p:nvSpPr>
        <p:spPr>
          <a:xfrm>
            <a:off x="4709160" y="2194560"/>
            <a:ext cx="502920" cy="502920"/>
          </a:xfrm>
          <a:prstGeom prst="rect">
            <a:avLst/>
          </a:prstGeom>
          <a:noFill/>
          <a:ln/>
        </p:spPr>
        <p:txBody>
          <a:bodyPr wrap="square" lIns="0" tIns="0" rIns="0" bIns="0" rtlCol="0" anchor="ctr"/>
          <a:lstStyle/>
          <a:p>
            <a:pPr algn="ctr" indent="0" marL="0">
              <a:buNone/>
            </a:pPr>
            <a:r>
              <a:rPr lang="en-US" sz="2000" b="1" dirty="0">
                <a:solidFill>
                  <a:srgbClr val="6C8CFF"/>
                </a:solidFill>
                <a:latin typeface="Bookman Old Style" pitchFamily="34" charset="0"/>
                <a:ea typeface="Bookman Old Style" pitchFamily="34" charset="-122"/>
                <a:cs typeface="Bookman Old Style" pitchFamily="34" charset="-120"/>
              </a:rPr>
              <a:t>2</a:t>
            </a:r>
            <a:endParaRPr lang="en-US" sz="2000" dirty="0"/>
          </a:p>
        </p:txBody>
      </p:sp>
      <p:sp>
        <p:nvSpPr>
          <p:cNvPr id="12" name="Text 10"/>
          <p:cNvSpPr/>
          <p:nvPr/>
        </p:nvSpPr>
        <p:spPr>
          <a:xfrm>
            <a:off x="4709160" y="2834640"/>
            <a:ext cx="3108960" cy="457200"/>
          </a:xfrm>
          <a:prstGeom prst="rect">
            <a:avLst/>
          </a:prstGeom>
          <a:noFill/>
          <a:ln/>
        </p:spPr>
        <p:txBody>
          <a:bodyPr wrap="square" lIns="0" tIns="0" rIns="0" bIns="0" rtlCol="0" anchor="ctr"/>
          <a:lstStyle/>
          <a:p>
            <a:pPr indent="0" marL="0">
              <a:buNone/>
            </a:pPr>
            <a:r>
              <a:rPr lang="en-US" sz="1700" b="1" dirty="0">
                <a:solidFill>
                  <a:srgbClr val="FFFFFF"/>
                </a:solidFill>
                <a:latin typeface="Bookman Old Style" pitchFamily="34" charset="0"/>
                <a:ea typeface="Bookman Old Style" pitchFamily="34" charset="-122"/>
                <a:cs typeface="Bookman Old Style" pitchFamily="34" charset="-120"/>
              </a:rPr>
              <a:t>Content &amp; media</a:t>
            </a:r>
            <a:endParaRPr lang="en-US" sz="1700" dirty="0"/>
          </a:p>
        </p:txBody>
      </p:sp>
      <p:sp>
        <p:nvSpPr>
          <p:cNvPr id="13" name="Text 11"/>
          <p:cNvSpPr/>
          <p:nvPr/>
        </p:nvSpPr>
        <p:spPr>
          <a:xfrm>
            <a:off x="4709160" y="3291840"/>
            <a:ext cx="3108960" cy="960120"/>
          </a:xfrm>
          <a:prstGeom prst="rect">
            <a:avLst/>
          </a:prstGeom>
          <a:noFill/>
          <a:ln/>
        </p:spPr>
        <p:txBody>
          <a:bodyPr wrap="square" lIns="0" tIns="0" rIns="0" bIns="0" rtlCol="0" anchor="ctr"/>
          <a:lstStyle/>
          <a:p>
            <a:pPr indent="0" marL="0">
              <a:buNone/>
            </a:pPr>
            <a:r>
              <a:rPr lang="en-US" sz="1300" dirty="0">
                <a:solidFill>
                  <a:srgbClr val="9AA0BD"/>
                </a:solidFill>
                <a:latin typeface="Calibri" pitchFamily="34" charset="0"/>
                <a:ea typeface="Calibri" pitchFamily="34" charset="-122"/>
                <a:cs typeface="Calibri" pitchFamily="34" charset="-120"/>
              </a:rPr>
              <a:t>Streaming, news, learning platforms billed on a rolling subscription.</a:t>
            </a:r>
            <a:endParaRPr lang="en-US" sz="1300" dirty="0"/>
          </a:p>
        </p:txBody>
      </p:sp>
      <p:sp>
        <p:nvSpPr>
          <p:cNvPr id="14" name="Shape 12"/>
          <p:cNvSpPr/>
          <p:nvPr/>
        </p:nvSpPr>
        <p:spPr>
          <a:xfrm>
            <a:off x="8321040" y="1920240"/>
            <a:ext cx="3657600" cy="2468880"/>
          </a:xfrm>
          <a:prstGeom prst="roundRect">
            <a:avLst>
              <a:gd name="adj" fmla="val 4444"/>
            </a:avLst>
          </a:prstGeom>
          <a:solidFill>
            <a:srgbClr val="1A1E30"/>
          </a:solidFill>
          <a:ln w="12700">
            <a:solidFill>
              <a:srgbClr val="2E3450"/>
            </a:solidFill>
            <a:prstDash val="solid"/>
          </a:ln>
        </p:spPr>
      </p:sp>
      <p:sp>
        <p:nvSpPr>
          <p:cNvPr id="15" name="Shape 13"/>
          <p:cNvSpPr/>
          <p:nvPr/>
        </p:nvSpPr>
        <p:spPr>
          <a:xfrm>
            <a:off x="8595360" y="2194560"/>
            <a:ext cx="502920" cy="502920"/>
          </a:xfrm>
          <a:prstGeom prst="roundRect">
            <a:avLst>
              <a:gd name="adj" fmla="val 49091"/>
            </a:avLst>
          </a:prstGeom>
          <a:solidFill>
            <a:srgbClr val="6C8CFF">
              <a:alpha val="22000"/>
            </a:srgbClr>
          </a:solidFill>
          <a:ln/>
        </p:spPr>
      </p:sp>
      <p:sp>
        <p:nvSpPr>
          <p:cNvPr id="16" name="Text 14"/>
          <p:cNvSpPr/>
          <p:nvPr/>
        </p:nvSpPr>
        <p:spPr>
          <a:xfrm>
            <a:off x="8595360" y="2194560"/>
            <a:ext cx="502920" cy="502920"/>
          </a:xfrm>
          <a:prstGeom prst="rect">
            <a:avLst/>
          </a:prstGeom>
          <a:noFill/>
          <a:ln/>
        </p:spPr>
        <p:txBody>
          <a:bodyPr wrap="square" lIns="0" tIns="0" rIns="0" bIns="0" rtlCol="0" anchor="ctr"/>
          <a:lstStyle/>
          <a:p>
            <a:pPr algn="ctr" indent="0" marL="0">
              <a:buNone/>
            </a:pPr>
            <a:r>
              <a:rPr lang="en-US" sz="2000" b="1" dirty="0">
                <a:solidFill>
                  <a:srgbClr val="6C8CFF"/>
                </a:solidFill>
                <a:latin typeface="Bookman Old Style" pitchFamily="34" charset="0"/>
                <a:ea typeface="Bookman Old Style" pitchFamily="34" charset="-122"/>
                <a:cs typeface="Bookman Old Style" pitchFamily="34" charset="-120"/>
              </a:rPr>
              <a:t>3</a:t>
            </a:r>
            <a:endParaRPr lang="en-US" sz="2000" dirty="0"/>
          </a:p>
        </p:txBody>
      </p:sp>
      <p:sp>
        <p:nvSpPr>
          <p:cNvPr id="17" name="Text 15"/>
          <p:cNvSpPr/>
          <p:nvPr/>
        </p:nvSpPr>
        <p:spPr>
          <a:xfrm>
            <a:off x="8595360" y="2834640"/>
            <a:ext cx="3108960" cy="457200"/>
          </a:xfrm>
          <a:prstGeom prst="rect">
            <a:avLst/>
          </a:prstGeom>
          <a:noFill/>
          <a:ln/>
        </p:spPr>
        <p:txBody>
          <a:bodyPr wrap="square" lIns="0" tIns="0" rIns="0" bIns="0" rtlCol="0" anchor="ctr"/>
          <a:lstStyle/>
          <a:p>
            <a:pPr indent="0" marL="0">
              <a:buNone/>
            </a:pPr>
            <a:r>
              <a:rPr lang="en-US" sz="1700" b="1" dirty="0">
                <a:solidFill>
                  <a:srgbClr val="FFFFFF"/>
                </a:solidFill>
                <a:latin typeface="Bookman Old Style" pitchFamily="34" charset="0"/>
                <a:ea typeface="Bookman Old Style" pitchFamily="34" charset="-122"/>
                <a:cs typeface="Bookman Old Style" pitchFamily="34" charset="-120"/>
              </a:rPr>
              <a:t>Wellness &amp; apps</a:t>
            </a:r>
            <a:endParaRPr lang="en-US" sz="1700" dirty="0"/>
          </a:p>
        </p:txBody>
      </p:sp>
      <p:sp>
        <p:nvSpPr>
          <p:cNvPr id="18" name="Text 16"/>
          <p:cNvSpPr/>
          <p:nvPr/>
        </p:nvSpPr>
        <p:spPr>
          <a:xfrm>
            <a:off x="8595360" y="3291840"/>
            <a:ext cx="3108960" cy="960120"/>
          </a:xfrm>
          <a:prstGeom prst="rect">
            <a:avLst/>
          </a:prstGeom>
          <a:noFill/>
          <a:ln/>
        </p:spPr>
        <p:txBody>
          <a:bodyPr wrap="square" lIns="0" tIns="0" rIns="0" bIns="0" rtlCol="0" anchor="ctr"/>
          <a:lstStyle/>
          <a:p>
            <a:pPr indent="0" marL="0">
              <a:buNone/>
            </a:pPr>
            <a:r>
              <a:rPr lang="en-US" sz="1300" dirty="0">
                <a:solidFill>
                  <a:srgbClr val="9AA0BD"/>
                </a:solidFill>
                <a:latin typeface="Calibri" pitchFamily="34" charset="0"/>
                <a:ea typeface="Calibri" pitchFamily="34" charset="-122"/>
                <a:cs typeface="Calibri" pitchFamily="34" charset="-120"/>
              </a:rPr>
              <a:t>Fitness, meditation, habit apps with recurring memberships.</a:t>
            </a:r>
            <a:endParaRPr lang="en-US" sz="1300" dirty="0"/>
          </a:p>
        </p:txBody>
      </p:sp>
      <p:sp>
        <p:nvSpPr>
          <p:cNvPr id="19" name="Shape 17"/>
          <p:cNvSpPr/>
          <p:nvPr/>
        </p:nvSpPr>
        <p:spPr>
          <a:xfrm>
            <a:off x="548640" y="4617720"/>
            <a:ext cx="11091672" cy="1554480"/>
          </a:xfrm>
          <a:prstGeom prst="roundRect">
            <a:avLst>
              <a:gd name="adj" fmla="val 7059"/>
            </a:avLst>
          </a:prstGeom>
          <a:solidFill>
            <a:srgbClr val="232840"/>
          </a:solidFill>
          <a:ln w="12700">
            <a:solidFill>
              <a:srgbClr val="2E3450"/>
            </a:solidFill>
            <a:prstDash val="solid"/>
          </a:ln>
        </p:spPr>
      </p:sp>
      <p:sp>
        <p:nvSpPr>
          <p:cNvPr id="20" name="Text 18"/>
          <p:cNvSpPr/>
          <p:nvPr/>
        </p:nvSpPr>
        <p:spPr>
          <a:xfrm>
            <a:off x="822960" y="4800600"/>
            <a:ext cx="10607040" cy="320040"/>
          </a:xfrm>
          <a:prstGeom prst="rect">
            <a:avLst/>
          </a:prstGeom>
          <a:noFill/>
          <a:ln/>
        </p:spPr>
        <p:txBody>
          <a:bodyPr wrap="square" lIns="0" tIns="0" rIns="0" bIns="0" rtlCol="0" anchor="ctr"/>
          <a:lstStyle/>
          <a:p>
            <a:pPr indent="0" marL="0">
              <a:buNone/>
            </a:pPr>
            <a:r>
              <a:rPr lang="en-US" sz="1300" b="1" spc="100" kern="0" dirty="0">
                <a:solidFill>
                  <a:srgbClr val="F0A04B"/>
                </a:solidFill>
                <a:latin typeface="Calibri" pitchFamily="34" charset="0"/>
                <a:ea typeface="Calibri" pitchFamily="34" charset="-122"/>
                <a:cs typeface="Calibri" pitchFamily="34" charset="-120"/>
              </a:rPr>
              <a:t>The shared challenge</a:t>
            </a:r>
            <a:endParaRPr lang="en-US" sz="1300" dirty="0"/>
          </a:p>
        </p:txBody>
      </p:sp>
      <p:sp>
        <p:nvSpPr>
          <p:cNvPr id="21" name="Text 19"/>
          <p:cNvSpPr/>
          <p:nvPr/>
        </p:nvSpPr>
        <p:spPr>
          <a:xfrm>
            <a:off x="822960" y="5120640"/>
            <a:ext cx="10607040" cy="914400"/>
          </a:xfrm>
          <a:prstGeom prst="rect">
            <a:avLst/>
          </a:prstGeom>
          <a:noFill/>
          <a:ln/>
        </p:spPr>
        <p:txBody>
          <a:bodyPr wrap="square" lIns="0" tIns="0" rIns="0" bIns="0" rtlCol="0" anchor="ctr"/>
          <a:lstStyle/>
          <a:p>
            <a:pPr indent="0" marL="0">
              <a:buNone/>
            </a:pPr>
            <a:r>
              <a:rPr lang="en-US" sz="1500" dirty="0">
                <a:solidFill>
                  <a:srgbClr val="D8DCEF"/>
                </a:solidFill>
                <a:latin typeface="Calibri" pitchFamily="34" charset="0"/>
                <a:ea typeface="Calibri" pitchFamily="34" charset="-122"/>
                <a:cs typeface="Calibri" pitchFamily="34" charset="-120"/>
              </a:rPr>
              <a:t>Growth is not just about acquiring users — it is about keeping them. When customers cancel silently, recurring revenue erodes and the business must keep buying new users just to stand still.</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220"/>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300" b="1" spc="200" kern="0" dirty="0">
                <a:solidFill>
                  <a:srgbClr val="6C8CFF"/>
                </a:solidFill>
                <a:latin typeface="Calibri" pitchFamily="34" charset="0"/>
                <a:ea typeface="Calibri" pitchFamily="34" charset="-122"/>
                <a:cs typeface="Calibri" pitchFamily="34" charset="-120"/>
              </a:rPr>
              <a:t>THE PROBLEM &amp; WHY IT MATTERS</a:t>
            </a:r>
            <a:endParaRPr lang="en-US" sz="13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indent="0" marL="0">
              <a:buNone/>
            </a:pPr>
            <a:r>
              <a:rPr lang="en-US" sz="3000" b="1" dirty="0">
                <a:solidFill>
                  <a:srgbClr val="FFFFFF"/>
                </a:solidFill>
                <a:latin typeface="Bookman Old Style" pitchFamily="34" charset="0"/>
                <a:ea typeface="Bookman Old Style" pitchFamily="34" charset="-122"/>
                <a:cs typeface="Bookman Old Style" pitchFamily="34" charset="-120"/>
              </a:rPr>
              <a:t>Silent churn quietly drains recurring revenue</a:t>
            </a:r>
            <a:endParaRPr lang="en-US" sz="3000" dirty="0"/>
          </a:p>
        </p:txBody>
      </p:sp>
      <p:sp>
        <p:nvSpPr>
          <p:cNvPr id="4" name="Shape 2"/>
          <p:cNvSpPr/>
          <p:nvPr/>
        </p:nvSpPr>
        <p:spPr>
          <a:xfrm>
            <a:off x="548640" y="1828800"/>
            <a:ext cx="5486400" cy="1874520"/>
          </a:xfrm>
          <a:prstGeom prst="roundRect">
            <a:avLst>
              <a:gd name="adj" fmla="val 5854"/>
            </a:avLst>
          </a:prstGeom>
          <a:solidFill>
            <a:srgbClr val="1A1E30"/>
          </a:solidFill>
          <a:ln w="12700">
            <a:solidFill>
              <a:srgbClr val="2E3450"/>
            </a:solidFill>
            <a:prstDash val="solid"/>
          </a:ln>
        </p:spPr>
      </p:sp>
      <p:sp>
        <p:nvSpPr>
          <p:cNvPr id="5" name="Text 3"/>
          <p:cNvSpPr/>
          <p:nvPr/>
        </p:nvSpPr>
        <p:spPr>
          <a:xfrm>
            <a:off x="822960" y="2011680"/>
            <a:ext cx="4937760" cy="320040"/>
          </a:xfrm>
          <a:prstGeom prst="rect">
            <a:avLst/>
          </a:prstGeom>
          <a:noFill/>
          <a:ln/>
        </p:spPr>
        <p:txBody>
          <a:bodyPr wrap="square" lIns="0" tIns="0" rIns="0" bIns="0" rtlCol="0" anchor="ctr"/>
          <a:lstStyle/>
          <a:p>
            <a:pPr indent="0" marL="0">
              <a:buNone/>
            </a:pPr>
            <a:r>
              <a:rPr lang="en-US" sz="1300" b="1" spc="100" kern="0" dirty="0">
                <a:solidFill>
                  <a:srgbClr val="6C8CFF"/>
                </a:solidFill>
                <a:latin typeface="Calibri" pitchFamily="34" charset="0"/>
                <a:ea typeface="Calibri" pitchFamily="34" charset="-122"/>
                <a:cs typeface="Calibri" pitchFamily="34" charset="-120"/>
              </a:rPr>
              <a:t>Problem statement</a:t>
            </a:r>
            <a:endParaRPr lang="en-US" sz="1300" dirty="0"/>
          </a:p>
        </p:txBody>
      </p:sp>
      <p:sp>
        <p:nvSpPr>
          <p:cNvPr id="6" name="Text 4"/>
          <p:cNvSpPr/>
          <p:nvPr/>
        </p:nvSpPr>
        <p:spPr>
          <a:xfrm>
            <a:off x="822960" y="2331720"/>
            <a:ext cx="4937760" cy="1280160"/>
          </a:xfrm>
          <a:prstGeom prst="rect">
            <a:avLst/>
          </a:prstGeom>
          <a:noFill/>
          <a:ln/>
        </p:spPr>
        <p:txBody>
          <a:bodyPr wrap="square" lIns="0" tIns="0" rIns="0" bIns="0" rtlCol="0" anchor="ctr"/>
          <a:lstStyle/>
          <a:p>
            <a:pPr indent="0" marL="0">
              <a:buNone/>
            </a:pPr>
            <a:r>
              <a:rPr lang="en-US" sz="1500" dirty="0">
                <a:solidFill>
                  <a:srgbClr val="D8DCEF"/>
                </a:solidFill>
                <a:latin typeface="Calibri" pitchFamily="34" charset="0"/>
                <a:ea typeface="Calibri" pitchFamily="34" charset="-122"/>
                <a:cs typeface="Calibri" pitchFamily="34" charset="-120"/>
              </a:rPr>
              <a:t>Customers cancel with little warning. By the time churn shows up in the numbers, the revenue is already gone and win-back is expensive.</a:t>
            </a:r>
            <a:endParaRPr lang="en-US" sz="1500" dirty="0"/>
          </a:p>
        </p:txBody>
      </p:sp>
      <p:sp>
        <p:nvSpPr>
          <p:cNvPr id="7" name="Shape 5"/>
          <p:cNvSpPr/>
          <p:nvPr/>
        </p:nvSpPr>
        <p:spPr>
          <a:xfrm>
            <a:off x="6172200" y="1828800"/>
            <a:ext cx="5468112" cy="1874520"/>
          </a:xfrm>
          <a:prstGeom prst="roundRect">
            <a:avLst>
              <a:gd name="adj" fmla="val 5854"/>
            </a:avLst>
          </a:prstGeom>
          <a:solidFill>
            <a:srgbClr val="1A1E30"/>
          </a:solidFill>
          <a:ln w="12700">
            <a:solidFill>
              <a:srgbClr val="2E3450"/>
            </a:solidFill>
            <a:prstDash val="solid"/>
          </a:ln>
        </p:spPr>
      </p:sp>
      <p:sp>
        <p:nvSpPr>
          <p:cNvPr id="8" name="Text 6"/>
          <p:cNvSpPr/>
          <p:nvPr/>
        </p:nvSpPr>
        <p:spPr>
          <a:xfrm>
            <a:off x="6446520" y="2011680"/>
            <a:ext cx="4937760" cy="320040"/>
          </a:xfrm>
          <a:prstGeom prst="rect">
            <a:avLst/>
          </a:prstGeom>
          <a:noFill/>
          <a:ln/>
        </p:spPr>
        <p:txBody>
          <a:bodyPr wrap="square" lIns="0" tIns="0" rIns="0" bIns="0" rtlCol="0" anchor="ctr"/>
          <a:lstStyle/>
          <a:p>
            <a:pPr indent="0" marL="0">
              <a:buNone/>
            </a:pPr>
            <a:r>
              <a:rPr lang="en-US" sz="1300" b="1" spc="100" kern="0" dirty="0">
                <a:solidFill>
                  <a:srgbClr val="3ECF8E"/>
                </a:solidFill>
                <a:latin typeface="Calibri" pitchFamily="34" charset="0"/>
                <a:ea typeface="Calibri" pitchFamily="34" charset="-122"/>
                <a:cs typeface="Calibri" pitchFamily="34" charset="-120"/>
              </a:rPr>
              <a:t>Why it matters</a:t>
            </a:r>
            <a:endParaRPr lang="en-US" sz="1300" dirty="0"/>
          </a:p>
        </p:txBody>
      </p:sp>
      <p:sp>
        <p:nvSpPr>
          <p:cNvPr id="9" name="Text 7"/>
          <p:cNvSpPr/>
          <p:nvPr/>
        </p:nvSpPr>
        <p:spPr>
          <a:xfrm>
            <a:off x="6446520" y="2331720"/>
            <a:ext cx="4937760" cy="1280160"/>
          </a:xfrm>
          <a:prstGeom prst="rect">
            <a:avLst/>
          </a:prstGeom>
          <a:noFill/>
          <a:ln/>
        </p:spPr>
        <p:txBody>
          <a:bodyPr wrap="square" lIns="0" tIns="0" rIns="0" bIns="0" rtlCol="0" anchor="ctr"/>
          <a:lstStyle/>
          <a:p>
            <a:pPr indent="0" marL="0">
              <a:buNone/>
            </a:pPr>
            <a:r>
              <a:rPr lang="en-US" sz="1500" dirty="0">
                <a:solidFill>
                  <a:srgbClr val="D8DCEF"/>
                </a:solidFill>
                <a:latin typeface="Calibri" pitchFamily="34" charset="0"/>
                <a:ea typeface="Calibri" pitchFamily="34" charset="-122"/>
                <a:cs typeface="Calibri" pitchFamily="34" charset="-120"/>
              </a:rPr>
              <a:t>Retention is far cheaper than acquisition.
</a:t>
            </a:r>
            <a:endParaRPr lang="en-US" sz="1500" dirty="0"/>
          </a:p>
          <a:p>
            <a:pPr indent="0" marL="0">
              <a:buNone/>
            </a:pPr>
            <a:r>
              <a:rPr lang="en-US" sz="1500" dirty="0">
                <a:solidFill>
                  <a:srgbClr val="D8DCEF"/>
                </a:solidFill>
                <a:latin typeface="Calibri" pitchFamily="34" charset="0"/>
                <a:ea typeface="Calibri" pitchFamily="34" charset="-122"/>
                <a:cs typeface="Calibri" pitchFamily="34" charset="-120"/>
              </a:rPr>
              <a:t>A 5% lift in retention can raise profits 25–95% </a:t>
            </a:r>
            <a:pPr indent="0" marL="0">
              <a:buNone/>
            </a:pPr>
            <a:r>
              <a:rPr lang="en-US" sz="1500" i="1" dirty="0">
                <a:solidFill>
                  <a:srgbClr val="9AA0BD"/>
                </a:solidFill>
                <a:latin typeface="Calibri" pitchFamily="34" charset="0"/>
                <a:ea typeface="Calibri" pitchFamily="34" charset="-122"/>
                <a:cs typeface="Calibri" pitchFamily="34" charset="-120"/>
              </a:rPr>
              <a:t>(Reichheld &amp; Sasser, 1990).</a:t>
            </a:r>
            <a:endParaRPr lang="en-US" sz="1500" dirty="0"/>
          </a:p>
        </p:txBody>
      </p:sp>
      <p:sp>
        <p:nvSpPr>
          <p:cNvPr id="10" name="Shape 8"/>
          <p:cNvSpPr/>
          <p:nvPr/>
        </p:nvSpPr>
        <p:spPr>
          <a:xfrm>
            <a:off x="548640" y="3977640"/>
            <a:ext cx="3630168" cy="2148840"/>
          </a:xfrm>
          <a:prstGeom prst="roundRect">
            <a:avLst>
              <a:gd name="adj" fmla="val 5106"/>
            </a:avLst>
          </a:prstGeom>
          <a:solidFill>
            <a:srgbClr val="232840"/>
          </a:solidFill>
          <a:ln w="12700">
            <a:solidFill>
              <a:srgbClr val="2E3450"/>
            </a:solidFill>
            <a:prstDash val="solid"/>
          </a:ln>
        </p:spPr>
      </p:sp>
      <p:sp>
        <p:nvSpPr>
          <p:cNvPr id="11" name="Text 9"/>
          <p:cNvSpPr/>
          <p:nvPr/>
        </p:nvSpPr>
        <p:spPr>
          <a:xfrm>
            <a:off x="548640" y="4251960"/>
            <a:ext cx="3630168" cy="868680"/>
          </a:xfrm>
          <a:prstGeom prst="rect">
            <a:avLst/>
          </a:prstGeom>
          <a:noFill/>
          <a:ln/>
        </p:spPr>
        <p:txBody>
          <a:bodyPr wrap="square" lIns="0" tIns="0" rIns="0" bIns="0" rtlCol="0" anchor="ctr"/>
          <a:lstStyle/>
          <a:p>
            <a:pPr algn="ctr" indent="0" marL="0">
              <a:buNone/>
            </a:pPr>
            <a:r>
              <a:rPr lang="en-US" sz="4600" b="1" dirty="0">
                <a:solidFill>
                  <a:srgbClr val="EF4767"/>
                </a:solidFill>
                <a:latin typeface="Bookman Old Style" pitchFamily="34" charset="0"/>
                <a:ea typeface="Bookman Old Style" pitchFamily="34" charset="-122"/>
                <a:cs typeface="Bookman Old Style" pitchFamily="34" charset="-120"/>
              </a:rPr>
              <a:t>~5%</a:t>
            </a:r>
            <a:endParaRPr lang="en-US" sz="4600" dirty="0"/>
          </a:p>
        </p:txBody>
      </p:sp>
      <p:sp>
        <p:nvSpPr>
          <p:cNvPr id="12" name="Text 10"/>
          <p:cNvSpPr/>
          <p:nvPr/>
        </p:nvSpPr>
        <p:spPr>
          <a:xfrm>
            <a:off x="548640" y="5166360"/>
            <a:ext cx="3630168"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monthly churn</a:t>
            </a:r>
            <a:endParaRPr lang="en-US" sz="1600" dirty="0"/>
          </a:p>
        </p:txBody>
      </p:sp>
      <p:sp>
        <p:nvSpPr>
          <p:cNvPr id="13" name="Text 11"/>
          <p:cNvSpPr/>
          <p:nvPr/>
        </p:nvSpPr>
        <p:spPr>
          <a:xfrm>
            <a:off x="731520" y="5550408"/>
            <a:ext cx="3264408" cy="457200"/>
          </a:xfrm>
          <a:prstGeom prst="rect">
            <a:avLst/>
          </a:prstGeom>
          <a:noFill/>
          <a:ln/>
        </p:spPr>
        <p:txBody>
          <a:bodyPr wrap="square" lIns="0" tIns="0" rIns="0" bIns="0" rtlCol="0" anchor="ctr"/>
          <a:lstStyle/>
          <a:p>
            <a:pPr algn="ctr" indent="0" marL="0">
              <a:buNone/>
            </a:pPr>
            <a:r>
              <a:rPr lang="en-US" sz="1200" dirty="0">
                <a:solidFill>
                  <a:srgbClr val="9AA0BD"/>
                </a:solidFill>
                <a:latin typeface="Calibri" pitchFamily="34" charset="0"/>
                <a:ea typeface="Calibri" pitchFamily="34" charset="-122"/>
                <a:cs typeface="Calibri" pitchFamily="34" charset="-120"/>
              </a:rPr>
              <a:t>in a healthy subscription business</a:t>
            </a:r>
            <a:endParaRPr lang="en-US" sz="1200" dirty="0"/>
          </a:p>
        </p:txBody>
      </p:sp>
      <p:sp>
        <p:nvSpPr>
          <p:cNvPr id="14" name="Shape 12"/>
          <p:cNvSpPr/>
          <p:nvPr/>
        </p:nvSpPr>
        <p:spPr>
          <a:xfrm>
            <a:off x="4279392" y="3977640"/>
            <a:ext cx="3630168" cy="2148840"/>
          </a:xfrm>
          <a:prstGeom prst="roundRect">
            <a:avLst>
              <a:gd name="adj" fmla="val 5106"/>
            </a:avLst>
          </a:prstGeom>
          <a:solidFill>
            <a:srgbClr val="232840"/>
          </a:solidFill>
          <a:ln w="12700">
            <a:solidFill>
              <a:srgbClr val="2E3450"/>
            </a:solidFill>
            <a:prstDash val="solid"/>
          </a:ln>
        </p:spPr>
      </p:sp>
      <p:sp>
        <p:nvSpPr>
          <p:cNvPr id="15" name="Text 13"/>
          <p:cNvSpPr/>
          <p:nvPr/>
        </p:nvSpPr>
        <p:spPr>
          <a:xfrm>
            <a:off x="4279392" y="4251960"/>
            <a:ext cx="3630168" cy="868680"/>
          </a:xfrm>
          <a:prstGeom prst="rect">
            <a:avLst/>
          </a:prstGeom>
          <a:noFill/>
          <a:ln/>
        </p:spPr>
        <p:txBody>
          <a:bodyPr wrap="square" lIns="0" tIns="0" rIns="0" bIns="0" rtlCol="0" anchor="ctr"/>
          <a:lstStyle/>
          <a:p>
            <a:pPr algn="ctr" indent="0" marL="0">
              <a:buNone/>
            </a:pPr>
            <a:r>
              <a:rPr lang="en-US" sz="4600" b="1" dirty="0">
                <a:solidFill>
                  <a:srgbClr val="F0A04B"/>
                </a:solidFill>
                <a:latin typeface="Bookman Old Style" pitchFamily="34" charset="0"/>
                <a:ea typeface="Bookman Old Style" pitchFamily="34" charset="-122"/>
                <a:cs typeface="Bookman Old Style" pitchFamily="34" charset="-120"/>
              </a:rPr>
              <a:t>12 mo</a:t>
            </a:r>
            <a:endParaRPr lang="en-US" sz="4600" dirty="0"/>
          </a:p>
        </p:txBody>
      </p:sp>
      <p:sp>
        <p:nvSpPr>
          <p:cNvPr id="16" name="Text 14"/>
          <p:cNvSpPr/>
          <p:nvPr/>
        </p:nvSpPr>
        <p:spPr>
          <a:xfrm>
            <a:off x="4279392" y="5166360"/>
            <a:ext cx="3630168"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revenue lost</a:t>
            </a:r>
            <a:endParaRPr lang="en-US" sz="1600" dirty="0"/>
          </a:p>
        </p:txBody>
      </p:sp>
      <p:sp>
        <p:nvSpPr>
          <p:cNvPr id="17" name="Text 15"/>
          <p:cNvSpPr/>
          <p:nvPr/>
        </p:nvSpPr>
        <p:spPr>
          <a:xfrm>
            <a:off x="4462272" y="5550408"/>
            <a:ext cx="3264408" cy="457200"/>
          </a:xfrm>
          <a:prstGeom prst="rect">
            <a:avLst/>
          </a:prstGeom>
          <a:noFill/>
          <a:ln/>
        </p:spPr>
        <p:txBody>
          <a:bodyPr wrap="square" lIns="0" tIns="0" rIns="0" bIns="0" rtlCol="0" anchor="ctr"/>
          <a:lstStyle/>
          <a:p>
            <a:pPr algn="ctr" indent="0" marL="0">
              <a:buNone/>
            </a:pPr>
            <a:r>
              <a:rPr lang="en-US" sz="1200" dirty="0">
                <a:solidFill>
                  <a:srgbClr val="9AA0BD"/>
                </a:solidFill>
                <a:latin typeface="Calibri" pitchFamily="34" charset="0"/>
                <a:ea typeface="Calibri" pitchFamily="34" charset="-122"/>
                <a:cs typeface="Calibri" pitchFamily="34" charset="-120"/>
              </a:rPr>
              <a:t>per churning customer, on average</a:t>
            </a:r>
            <a:endParaRPr lang="en-US" sz="1200" dirty="0"/>
          </a:p>
        </p:txBody>
      </p:sp>
      <p:sp>
        <p:nvSpPr>
          <p:cNvPr id="18" name="Shape 16"/>
          <p:cNvSpPr/>
          <p:nvPr/>
        </p:nvSpPr>
        <p:spPr>
          <a:xfrm>
            <a:off x="8010144" y="3977640"/>
            <a:ext cx="3630168" cy="2148840"/>
          </a:xfrm>
          <a:prstGeom prst="roundRect">
            <a:avLst>
              <a:gd name="adj" fmla="val 5106"/>
            </a:avLst>
          </a:prstGeom>
          <a:solidFill>
            <a:srgbClr val="232840"/>
          </a:solidFill>
          <a:ln w="12700">
            <a:solidFill>
              <a:srgbClr val="2E3450"/>
            </a:solidFill>
            <a:prstDash val="solid"/>
          </a:ln>
        </p:spPr>
      </p:sp>
      <p:sp>
        <p:nvSpPr>
          <p:cNvPr id="19" name="Text 17"/>
          <p:cNvSpPr/>
          <p:nvPr/>
        </p:nvSpPr>
        <p:spPr>
          <a:xfrm>
            <a:off x="8010144" y="4251960"/>
            <a:ext cx="3630168" cy="868680"/>
          </a:xfrm>
          <a:prstGeom prst="rect">
            <a:avLst/>
          </a:prstGeom>
          <a:noFill/>
          <a:ln/>
        </p:spPr>
        <p:txBody>
          <a:bodyPr wrap="square" lIns="0" tIns="0" rIns="0" bIns="0" rtlCol="0" anchor="ctr"/>
          <a:lstStyle/>
          <a:p>
            <a:pPr algn="ctr" indent="0" marL="0">
              <a:buNone/>
            </a:pPr>
            <a:r>
              <a:rPr lang="en-US" sz="4600" b="1" dirty="0">
                <a:solidFill>
                  <a:srgbClr val="3ECF8E"/>
                </a:solidFill>
                <a:latin typeface="Bookman Old Style" pitchFamily="34" charset="0"/>
                <a:ea typeface="Bookman Old Style" pitchFamily="34" charset="-122"/>
                <a:cs typeface="Bookman Old Style" pitchFamily="34" charset="-120"/>
              </a:rPr>
              <a:t>20%</a:t>
            </a:r>
            <a:endParaRPr lang="en-US" sz="4600" dirty="0"/>
          </a:p>
        </p:txBody>
      </p:sp>
      <p:sp>
        <p:nvSpPr>
          <p:cNvPr id="20" name="Text 18"/>
          <p:cNvSpPr/>
          <p:nvPr/>
        </p:nvSpPr>
        <p:spPr>
          <a:xfrm>
            <a:off x="8010144" y="5166360"/>
            <a:ext cx="3630168"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reduction target</a:t>
            </a:r>
            <a:endParaRPr lang="en-US" sz="1600" dirty="0"/>
          </a:p>
        </p:txBody>
      </p:sp>
      <p:sp>
        <p:nvSpPr>
          <p:cNvPr id="21" name="Text 19"/>
          <p:cNvSpPr/>
          <p:nvPr/>
        </p:nvSpPr>
        <p:spPr>
          <a:xfrm>
            <a:off x="8193024" y="5550408"/>
            <a:ext cx="3264408" cy="457200"/>
          </a:xfrm>
          <a:prstGeom prst="rect">
            <a:avLst/>
          </a:prstGeom>
          <a:noFill/>
          <a:ln/>
        </p:spPr>
        <p:txBody>
          <a:bodyPr wrap="square" lIns="0" tIns="0" rIns="0" bIns="0" rtlCol="0" anchor="ctr"/>
          <a:lstStyle/>
          <a:p>
            <a:pPr algn="ctr" indent="0" marL="0">
              <a:buNone/>
            </a:pPr>
            <a:r>
              <a:rPr lang="en-US" sz="1200" dirty="0">
                <a:solidFill>
                  <a:srgbClr val="9AA0BD"/>
                </a:solidFill>
                <a:latin typeface="Calibri" pitchFamily="34" charset="0"/>
                <a:ea typeface="Calibri" pitchFamily="34" charset="-122"/>
                <a:cs typeface="Calibri" pitchFamily="34" charset="-120"/>
              </a:rPr>
              <a:t>relative — our business goal</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220"/>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300" b="1" spc="200" kern="0" dirty="0">
                <a:solidFill>
                  <a:srgbClr val="6C8CFF"/>
                </a:solidFill>
                <a:latin typeface="Calibri" pitchFamily="34" charset="0"/>
                <a:ea typeface="Calibri" pitchFamily="34" charset="-122"/>
                <a:cs typeface="Calibri" pitchFamily="34" charset="-120"/>
              </a:rPr>
              <a:t>MACHINE LEARNING FORMULATION</a:t>
            </a:r>
            <a:endParaRPr lang="en-US" sz="13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indent="0" marL="0">
              <a:buNone/>
            </a:pPr>
            <a:r>
              <a:rPr lang="en-US" sz="3000" b="1" dirty="0">
                <a:solidFill>
                  <a:srgbClr val="FFFFFF"/>
                </a:solidFill>
                <a:latin typeface="Bookman Old Style" pitchFamily="34" charset="0"/>
                <a:ea typeface="Bookman Old Style" pitchFamily="34" charset="-122"/>
                <a:cs typeface="Bookman Old Style" pitchFamily="34" charset="-120"/>
              </a:rPr>
              <a:t>A supervised, time-aware classification problem</a:t>
            </a:r>
            <a:endParaRPr lang="en-US" sz="3000" dirty="0"/>
          </a:p>
        </p:txBody>
      </p:sp>
      <p:sp>
        <p:nvSpPr>
          <p:cNvPr id="4" name="Shape 2"/>
          <p:cNvSpPr/>
          <p:nvPr/>
        </p:nvSpPr>
        <p:spPr>
          <a:xfrm>
            <a:off x="548640" y="1874520"/>
            <a:ext cx="11091672" cy="713232"/>
          </a:xfrm>
          <a:prstGeom prst="roundRect">
            <a:avLst>
              <a:gd name="adj" fmla="val 15385"/>
            </a:avLst>
          </a:prstGeom>
          <a:solidFill>
            <a:srgbClr val="232840"/>
          </a:solidFill>
          <a:ln w="12700">
            <a:solidFill>
              <a:srgbClr val="2E3450"/>
            </a:solidFill>
            <a:prstDash val="solid"/>
          </a:ln>
        </p:spPr>
      </p:sp>
      <p:sp>
        <p:nvSpPr>
          <p:cNvPr id="5" name="Text 3"/>
          <p:cNvSpPr/>
          <p:nvPr/>
        </p:nvSpPr>
        <p:spPr>
          <a:xfrm>
            <a:off x="822960" y="1874520"/>
            <a:ext cx="2651760" cy="713232"/>
          </a:xfrm>
          <a:prstGeom prst="rect">
            <a:avLst/>
          </a:prstGeom>
          <a:noFill/>
          <a:ln/>
        </p:spPr>
        <p:txBody>
          <a:bodyPr wrap="square" lIns="0" tIns="0" rIns="0" bIns="0" rtlCol="0" anchor="ctr"/>
          <a:lstStyle/>
          <a:p>
            <a:pPr indent="0" marL="0">
              <a:buNone/>
            </a:pPr>
            <a:r>
              <a:rPr lang="en-US" sz="1500" b="1" dirty="0">
                <a:solidFill>
                  <a:srgbClr val="6C8CFF"/>
                </a:solidFill>
                <a:latin typeface="Bookman Old Style" pitchFamily="34" charset="0"/>
                <a:ea typeface="Bookman Old Style" pitchFamily="34" charset="-122"/>
                <a:cs typeface="Bookman Old Style" pitchFamily="34" charset="-120"/>
              </a:rPr>
              <a:t>Task</a:t>
            </a:r>
            <a:endParaRPr lang="en-US" sz="1500" dirty="0"/>
          </a:p>
        </p:txBody>
      </p:sp>
      <p:sp>
        <p:nvSpPr>
          <p:cNvPr id="6" name="Text 4"/>
          <p:cNvSpPr/>
          <p:nvPr/>
        </p:nvSpPr>
        <p:spPr>
          <a:xfrm>
            <a:off x="3566160" y="1874520"/>
            <a:ext cx="7799832" cy="713232"/>
          </a:xfrm>
          <a:prstGeom prst="rect">
            <a:avLst/>
          </a:prstGeom>
          <a:noFill/>
          <a:ln/>
        </p:spPr>
        <p:txBody>
          <a:bodyPr wrap="square" lIns="0" tIns="0" rIns="0" bIns="0" rtlCol="0" anchor="ctr"/>
          <a:lstStyle/>
          <a:p>
            <a:pPr indent="0" marL="0">
              <a:buNone/>
            </a:pPr>
            <a:r>
              <a:rPr lang="en-US" sz="1500" dirty="0">
                <a:solidFill>
                  <a:srgbClr val="D8DCEF"/>
                </a:solidFill>
                <a:latin typeface="Calibri" pitchFamily="34" charset="0"/>
                <a:ea typeface="Calibri" pitchFamily="34" charset="-122"/>
                <a:cs typeface="Calibri" pitchFamily="34" charset="-120"/>
              </a:rPr>
              <a:t>Supervised binary classification</a:t>
            </a:r>
            <a:endParaRPr lang="en-US" sz="1500" dirty="0"/>
          </a:p>
        </p:txBody>
      </p:sp>
      <p:sp>
        <p:nvSpPr>
          <p:cNvPr id="7" name="Shape 5"/>
          <p:cNvSpPr/>
          <p:nvPr/>
        </p:nvSpPr>
        <p:spPr>
          <a:xfrm>
            <a:off x="548640" y="2615184"/>
            <a:ext cx="11091672" cy="713232"/>
          </a:xfrm>
          <a:prstGeom prst="roundRect">
            <a:avLst>
              <a:gd name="adj" fmla="val 15385"/>
            </a:avLst>
          </a:prstGeom>
          <a:solidFill>
            <a:srgbClr val="1A1E30"/>
          </a:solidFill>
          <a:ln w="12700">
            <a:solidFill>
              <a:srgbClr val="2E3450"/>
            </a:solidFill>
            <a:prstDash val="solid"/>
          </a:ln>
        </p:spPr>
      </p:sp>
      <p:sp>
        <p:nvSpPr>
          <p:cNvPr id="8" name="Text 6"/>
          <p:cNvSpPr/>
          <p:nvPr/>
        </p:nvSpPr>
        <p:spPr>
          <a:xfrm>
            <a:off x="822960" y="2615184"/>
            <a:ext cx="2651760" cy="713232"/>
          </a:xfrm>
          <a:prstGeom prst="rect">
            <a:avLst/>
          </a:prstGeom>
          <a:noFill/>
          <a:ln/>
        </p:spPr>
        <p:txBody>
          <a:bodyPr wrap="square" lIns="0" tIns="0" rIns="0" bIns="0" rtlCol="0" anchor="ctr"/>
          <a:lstStyle/>
          <a:p>
            <a:pPr indent="0" marL="0">
              <a:buNone/>
            </a:pPr>
            <a:r>
              <a:rPr lang="en-US" sz="1500" b="1" dirty="0">
                <a:solidFill>
                  <a:srgbClr val="6C8CFF"/>
                </a:solidFill>
                <a:latin typeface="Bookman Old Style" pitchFamily="34" charset="0"/>
                <a:ea typeface="Bookman Old Style" pitchFamily="34" charset="-122"/>
                <a:cs typeface="Bookman Old Style" pitchFamily="34" charset="-120"/>
              </a:rPr>
              <a:t>Target</a:t>
            </a:r>
            <a:endParaRPr lang="en-US" sz="1500" dirty="0"/>
          </a:p>
        </p:txBody>
      </p:sp>
      <p:sp>
        <p:nvSpPr>
          <p:cNvPr id="9" name="Text 7"/>
          <p:cNvSpPr/>
          <p:nvPr/>
        </p:nvSpPr>
        <p:spPr>
          <a:xfrm>
            <a:off x="3566160" y="2615184"/>
            <a:ext cx="7799832" cy="713232"/>
          </a:xfrm>
          <a:prstGeom prst="rect">
            <a:avLst/>
          </a:prstGeom>
          <a:noFill/>
          <a:ln/>
        </p:spPr>
        <p:txBody>
          <a:bodyPr wrap="square" lIns="0" tIns="0" rIns="0" bIns="0" rtlCol="0" anchor="ctr"/>
          <a:lstStyle/>
          <a:p>
            <a:pPr indent="0" marL="0">
              <a:buNone/>
            </a:pPr>
            <a:r>
              <a:rPr lang="en-US" sz="1500" dirty="0">
                <a:solidFill>
                  <a:srgbClr val="D8DCEF"/>
                </a:solidFill>
                <a:latin typeface="Calibri" pitchFamily="34" charset="0"/>
                <a:ea typeface="Calibri" pitchFamily="34" charset="-122"/>
                <a:cs typeface="Calibri" pitchFamily="34" charset="-120"/>
              </a:rPr>
              <a:t>churn_30d — will the customer cancel within 30 days? (1 / 0)</a:t>
            </a:r>
            <a:endParaRPr lang="en-US" sz="1500" dirty="0"/>
          </a:p>
        </p:txBody>
      </p:sp>
      <p:sp>
        <p:nvSpPr>
          <p:cNvPr id="10" name="Shape 8"/>
          <p:cNvSpPr/>
          <p:nvPr/>
        </p:nvSpPr>
        <p:spPr>
          <a:xfrm>
            <a:off x="548640" y="3355848"/>
            <a:ext cx="11091672" cy="713232"/>
          </a:xfrm>
          <a:prstGeom prst="roundRect">
            <a:avLst>
              <a:gd name="adj" fmla="val 15385"/>
            </a:avLst>
          </a:prstGeom>
          <a:solidFill>
            <a:srgbClr val="232840"/>
          </a:solidFill>
          <a:ln w="12700">
            <a:solidFill>
              <a:srgbClr val="2E3450"/>
            </a:solidFill>
            <a:prstDash val="solid"/>
          </a:ln>
        </p:spPr>
      </p:sp>
      <p:sp>
        <p:nvSpPr>
          <p:cNvPr id="11" name="Text 9"/>
          <p:cNvSpPr/>
          <p:nvPr/>
        </p:nvSpPr>
        <p:spPr>
          <a:xfrm>
            <a:off x="822960" y="3355848"/>
            <a:ext cx="2651760" cy="713232"/>
          </a:xfrm>
          <a:prstGeom prst="rect">
            <a:avLst/>
          </a:prstGeom>
          <a:noFill/>
          <a:ln/>
        </p:spPr>
        <p:txBody>
          <a:bodyPr wrap="square" lIns="0" tIns="0" rIns="0" bIns="0" rtlCol="0" anchor="ctr"/>
          <a:lstStyle/>
          <a:p>
            <a:pPr indent="0" marL="0">
              <a:buNone/>
            </a:pPr>
            <a:r>
              <a:rPr lang="en-US" sz="1500" b="1" dirty="0">
                <a:solidFill>
                  <a:srgbClr val="6C8CFF"/>
                </a:solidFill>
                <a:latin typeface="Bookman Old Style" pitchFamily="34" charset="0"/>
                <a:ea typeface="Bookman Old Style" pitchFamily="34" charset="-122"/>
                <a:cs typeface="Bookman Old Style" pitchFamily="34" charset="-120"/>
              </a:rPr>
              <a:t>Inputs</a:t>
            </a:r>
            <a:endParaRPr lang="en-US" sz="1500" dirty="0"/>
          </a:p>
        </p:txBody>
      </p:sp>
      <p:sp>
        <p:nvSpPr>
          <p:cNvPr id="12" name="Text 10"/>
          <p:cNvSpPr/>
          <p:nvPr/>
        </p:nvSpPr>
        <p:spPr>
          <a:xfrm>
            <a:off x="3566160" y="3355848"/>
            <a:ext cx="7799832" cy="713232"/>
          </a:xfrm>
          <a:prstGeom prst="rect">
            <a:avLst/>
          </a:prstGeom>
          <a:noFill/>
          <a:ln/>
        </p:spPr>
        <p:txBody>
          <a:bodyPr wrap="square" lIns="0" tIns="0" rIns="0" bIns="0" rtlCol="0" anchor="ctr"/>
          <a:lstStyle/>
          <a:p>
            <a:pPr indent="0" marL="0">
              <a:buNone/>
            </a:pPr>
            <a:r>
              <a:rPr lang="en-US" sz="1500" dirty="0">
                <a:solidFill>
                  <a:srgbClr val="D8DCEF"/>
                </a:solidFill>
                <a:latin typeface="Calibri" pitchFamily="34" charset="0"/>
                <a:ea typeface="Calibri" pitchFamily="34" charset="-122"/>
                <a:cs typeface="Calibri" pitchFamily="34" charset="-120"/>
              </a:rPr>
              <a:t>Profile + subscription + behavioural engagement signals, known up to today</a:t>
            </a:r>
            <a:endParaRPr lang="en-US" sz="1500" dirty="0"/>
          </a:p>
        </p:txBody>
      </p:sp>
      <p:sp>
        <p:nvSpPr>
          <p:cNvPr id="13" name="Shape 11"/>
          <p:cNvSpPr/>
          <p:nvPr/>
        </p:nvSpPr>
        <p:spPr>
          <a:xfrm>
            <a:off x="548640" y="4096512"/>
            <a:ext cx="11091672" cy="713232"/>
          </a:xfrm>
          <a:prstGeom prst="roundRect">
            <a:avLst>
              <a:gd name="adj" fmla="val 15385"/>
            </a:avLst>
          </a:prstGeom>
          <a:solidFill>
            <a:srgbClr val="1A1E30"/>
          </a:solidFill>
          <a:ln w="12700">
            <a:solidFill>
              <a:srgbClr val="2E3450"/>
            </a:solidFill>
            <a:prstDash val="solid"/>
          </a:ln>
        </p:spPr>
      </p:sp>
      <p:sp>
        <p:nvSpPr>
          <p:cNvPr id="14" name="Text 12"/>
          <p:cNvSpPr/>
          <p:nvPr/>
        </p:nvSpPr>
        <p:spPr>
          <a:xfrm>
            <a:off x="822960" y="4096512"/>
            <a:ext cx="2651760" cy="713232"/>
          </a:xfrm>
          <a:prstGeom prst="rect">
            <a:avLst/>
          </a:prstGeom>
          <a:noFill/>
          <a:ln/>
        </p:spPr>
        <p:txBody>
          <a:bodyPr wrap="square" lIns="0" tIns="0" rIns="0" bIns="0" rtlCol="0" anchor="ctr"/>
          <a:lstStyle/>
          <a:p>
            <a:pPr indent="0" marL="0">
              <a:buNone/>
            </a:pPr>
            <a:r>
              <a:rPr lang="en-US" sz="1500" b="1" dirty="0">
                <a:solidFill>
                  <a:srgbClr val="6C8CFF"/>
                </a:solidFill>
                <a:latin typeface="Bookman Old Style" pitchFamily="34" charset="0"/>
                <a:ea typeface="Bookman Old Style" pitchFamily="34" charset="-122"/>
                <a:cs typeface="Bookman Old Style" pitchFamily="34" charset="-120"/>
              </a:rPr>
              <a:t>Primary metric</a:t>
            </a:r>
            <a:endParaRPr lang="en-US" sz="1500" dirty="0"/>
          </a:p>
        </p:txBody>
      </p:sp>
      <p:sp>
        <p:nvSpPr>
          <p:cNvPr id="15" name="Text 13"/>
          <p:cNvSpPr/>
          <p:nvPr/>
        </p:nvSpPr>
        <p:spPr>
          <a:xfrm>
            <a:off x="3566160" y="4096512"/>
            <a:ext cx="7799832" cy="713232"/>
          </a:xfrm>
          <a:prstGeom prst="rect">
            <a:avLst/>
          </a:prstGeom>
          <a:noFill/>
          <a:ln/>
        </p:spPr>
        <p:txBody>
          <a:bodyPr wrap="square" lIns="0" tIns="0" rIns="0" bIns="0" rtlCol="0" anchor="ctr"/>
          <a:lstStyle/>
          <a:p>
            <a:pPr indent="0" marL="0">
              <a:buNone/>
            </a:pPr>
            <a:r>
              <a:rPr lang="en-US" sz="1500" dirty="0">
                <a:solidFill>
                  <a:srgbClr val="D8DCEF"/>
                </a:solidFill>
                <a:latin typeface="Calibri" pitchFamily="34" charset="0"/>
                <a:ea typeface="Calibri" pitchFamily="34" charset="-122"/>
                <a:cs typeface="Calibri" pitchFamily="34" charset="-120"/>
              </a:rPr>
              <a:t>F2-score — weights recall higher (missing a churner costs more than a false alert)</a:t>
            </a:r>
            <a:endParaRPr lang="en-US" sz="1500" dirty="0"/>
          </a:p>
        </p:txBody>
      </p:sp>
      <p:sp>
        <p:nvSpPr>
          <p:cNvPr id="16" name="Shape 14"/>
          <p:cNvSpPr/>
          <p:nvPr/>
        </p:nvSpPr>
        <p:spPr>
          <a:xfrm>
            <a:off x="548640" y="4837176"/>
            <a:ext cx="11091672" cy="713232"/>
          </a:xfrm>
          <a:prstGeom prst="roundRect">
            <a:avLst>
              <a:gd name="adj" fmla="val 15385"/>
            </a:avLst>
          </a:prstGeom>
          <a:solidFill>
            <a:srgbClr val="232840"/>
          </a:solidFill>
          <a:ln w="12700">
            <a:solidFill>
              <a:srgbClr val="2E3450"/>
            </a:solidFill>
            <a:prstDash val="solid"/>
          </a:ln>
        </p:spPr>
      </p:sp>
      <p:sp>
        <p:nvSpPr>
          <p:cNvPr id="17" name="Text 15"/>
          <p:cNvSpPr/>
          <p:nvPr/>
        </p:nvSpPr>
        <p:spPr>
          <a:xfrm>
            <a:off x="822960" y="4837176"/>
            <a:ext cx="2651760" cy="713232"/>
          </a:xfrm>
          <a:prstGeom prst="rect">
            <a:avLst/>
          </a:prstGeom>
          <a:noFill/>
          <a:ln/>
        </p:spPr>
        <p:txBody>
          <a:bodyPr wrap="square" lIns="0" tIns="0" rIns="0" bIns="0" rtlCol="0" anchor="ctr"/>
          <a:lstStyle/>
          <a:p>
            <a:pPr indent="0" marL="0">
              <a:buNone/>
            </a:pPr>
            <a:r>
              <a:rPr lang="en-US" sz="1500" b="1" dirty="0">
                <a:solidFill>
                  <a:srgbClr val="6C8CFF"/>
                </a:solidFill>
                <a:latin typeface="Bookman Old Style" pitchFamily="34" charset="0"/>
                <a:ea typeface="Bookman Old Style" pitchFamily="34" charset="-122"/>
                <a:cs typeface="Bookman Old Style" pitchFamily="34" charset="-120"/>
              </a:rPr>
              <a:t>Secondary</a:t>
            </a:r>
            <a:endParaRPr lang="en-US" sz="1500" dirty="0"/>
          </a:p>
        </p:txBody>
      </p:sp>
      <p:sp>
        <p:nvSpPr>
          <p:cNvPr id="18" name="Text 16"/>
          <p:cNvSpPr/>
          <p:nvPr/>
        </p:nvSpPr>
        <p:spPr>
          <a:xfrm>
            <a:off x="3566160" y="4837176"/>
            <a:ext cx="7799832" cy="713232"/>
          </a:xfrm>
          <a:prstGeom prst="rect">
            <a:avLst/>
          </a:prstGeom>
          <a:noFill/>
          <a:ln/>
        </p:spPr>
        <p:txBody>
          <a:bodyPr wrap="square" lIns="0" tIns="0" rIns="0" bIns="0" rtlCol="0" anchor="ctr"/>
          <a:lstStyle/>
          <a:p>
            <a:pPr indent="0" marL="0">
              <a:buNone/>
            </a:pPr>
            <a:r>
              <a:rPr lang="en-US" sz="1500" dirty="0">
                <a:solidFill>
                  <a:srgbClr val="D8DCEF"/>
                </a:solidFill>
                <a:latin typeface="Calibri" pitchFamily="34" charset="0"/>
                <a:ea typeface="Calibri" pitchFamily="34" charset="-122"/>
                <a:cs typeface="Calibri" pitchFamily="34" charset="-120"/>
              </a:rPr>
              <a:t>AUC for overall discriminative power</a:t>
            </a:r>
            <a:endParaRPr lang="en-US" sz="1500" dirty="0"/>
          </a:p>
        </p:txBody>
      </p:sp>
      <p:sp>
        <p:nvSpPr>
          <p:cNvPr id="19" name="Shape 17"/>
          <p:cNvSpPr/>
          <p:nvPr/>
        </p:nvSpPr>
        <p:spPr>
          <a:xfrm>
            <a:off x="548640" y="5577840"/>
            <a:ext cx="11091672" cy="713232"/>
          </a:xfrm>
          <a:prstGeom prst="roundRect">
            <a:avLst>
              <a:gd name="adj" fmla="val 15385"/>
            </a:avLst>
          </a:prstGeom>
          <a:solidFill>
            <a:srgbClr val="1A1E30"/>
          </a:solidFill>
          <a:ln w="12700">
            <a:solidFill>
              <a:srgbClr val="2E3450"/>
            </a:solidFill>
            <a:prstDash val="solid"/>
          </a:ln>
        </p:spPr>
      </p:sp>
      <p:sp>
        <p:nvSpPr>
          <p:cNvPr id="20" name="Text 18"/>
          <p:cNvSpPr/>
          <p:nvPr/>
        </p:nvSpPr>
        <p:spPr>
          <a:xfrm>
            <a:off x="822960" y="5577840"/>
            <a:ext cx="2651760" cy="713232"/>
          </a:xfrm>
          <a:prstGeom prst="rect">
            <a:avLst/>
          </a:prstGeom>
          <a:noFill/>
          <a:ln/>
        </p:spPr>
        <p:txBody>
          <a:bodyPr wrap="square" lIns="0" tIns="0" rIns="0" bIns="0" rtlCol="0" anchor="ctr"/>
          <a:lstStyle/>
          <a:p>
            <a:pPr indent="0" marL="0">
              <a:buNone/>
            </a:pPr>
            <a:r>
              <a:rPr lang="en-US" sz="1500" b="1" dirty="0">
                <a:solidFill>
                  <a:srgbClr val="6C8CFF"/>
                </a:solidFill>
                <a:latin typeface="Bookman Old Style" pitchFamily="34" charset="0"/>
                <a:ea typeface="Bookman Old Style" pitchFamily="34" charset="-122"/>
                <a:cs typeface="Bookman Old Style" pitchFamily="34" charset="-120"/>
              </a:rPr>
              <a:t>Validation</a:t>
            </a:r>
            <a:endParaRPr lang="en-US" sz="1500" dirty="0"/>
          </a:p>
        </p:txBody>
      </p:sp>
      <p:sp>
        <p:nvSpPr>
          <p:cNvPr id="21" name="Text 19"/>
          <p:cNvSpPr/>
          <p:nvPr/>
        </p:nvSpPr>
        <p:spPr>
          <a:xfrm>
            <a:off x="3566160" y="5577840"/>
            <a:ext cx="7799832" cy="713232"/>
          </a:xfrm>
          <a:prstGeom prst="rect">
            <a:avLst/>
          </a:prstGeom>
          <a:noFill/>
          <a:ln/>
        </p:spPr>
        <p:txBody>
          <a:bodyPr wrap="square" lIns="0" tIns="0" rIns="0" bIns="0" rtlCol="0" anchor="ctr"/>
          <a:lstStyle/>
          <a:p>
            <a:pPr indent="0" marL="0">
              <a:buNone/>
            </a:pPr>
            <a:r>
              <a:rPr lang="en-US" sz="1500" dirty="0">
                <a:solidFill>
                  <a:srgbClr val="D8DCEF"/>
                </a:solidFill>
                <a:latin typeface="Calibri" pitchFamily="34" charset="0"/>
                <a:ea typeface="Calibri" pitchFamily="34" charset="-122"/>
                <a:cs typeface="Calibri" pitchFamily="34" charset="-120"/>
              </a:rPr>
              <a:t>Time-based split — train on the past, test on the future (no data leakage)</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220"/>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300" b="1" spc="200" kern="0" dirty="0">
                <a:solidFill>
                  <a:srgbClr val="6C8CFF"/>
                </a:solidFill>
                <a:latin typeface="Calibri" pitchFamily="34" charset="0"/>
                <a:ea typeface="Calibri" pitchFamily="34" charset="-122"/>
                <a:cs typeface="Calibri" pitchFamily="34" charset="-120"/>
              </a:rPr>
              <a:t>SOLUTION OVERVIEW</a:t>
            </a:r>
            <a:endParaRPr lang="en-US" sz="13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indent="0" marL="0">
              <a:buNone/>
            </a:pPr>
            <a:r>
              <a:rPr lang="en-US" sz="3000" b="1" dirty="0">
                <a:solidFill>
                  <a:srgbClr val="FFFFFF"/>
                </a:solidFill>
                <a:latin typeface="Bookman Old Style" pitchFamily="34" charset="0"/>
                <a:ea typeface="Bookman Old Style" pitchFamily="34" charset="-122"/>
                <a:cs typeface="Bookman Old Style" pitchFamily="34" charset="-120"/>
              </a:rPr>
              <a:t>An end-to-end pipeline, from raw data to action</a:t>
            </a:r>
            <a:endParaRPr lang="en-US" sz="3000" dirty="0"/>
          </a:p>
        </p:txBody>
      </p:sp>
      <p:sp>
        <p:nvSpPr>
          <p:cNvPr id="4" name="Shape 2"/>
          <p:cNvSpPr/>
          <p:nvPr/>
        </p:nvSpPr>
        <p:spPr>
          <a:xfrm>
            <a:off x="548640" y="2194560"/>
            <a:ext cx="2013509" cy="2743200"/>
          </a:xfrm>
          <a:prstGeom prst="roundRect">
            <a:avLst>
              <a:gd name="adj" fmla="val 5450"/>
            </a:avLst>
          </a:prstGeom>
          <a:solidFill>
            <a:srgbClr val="1A1E30"/>
          </a:solidFill>
          <a:ln w="12700">
            <a:solidFill>
              <a:srgbClr val="2E3450"/>
            </a:solidFill>
            <a:prstDash val="solid"/>
          </a:ln>
        </p:spPr>
      </p:sp>
      <p:sp>
        <p:nvSpPr>
          <p:cNvPr id="5" name="Shape 3"/>
          <p:cNvSpPr/>
          <p:nvPr/>
        </p:nvSpPr>
        <p:spPr>
          <a:xfrm>
            <a:off x="1262786" y="2487168"/>
            <a:ext cx="585216" cy="585216"/>
          </a:xfrm>
          <a:prstGeom prst="roundRect">
            <a:avLst>
              <a:gd name="adj" fmla="val 50000"/>
            </a:avLst>
          </a:prstGeom>
          <a:solidFill>
            <a:srgbClr val="6C8CFF"/>
          </a:solidFill>
          <a:ln/>
        </p:spPr>
      </p:sp>
      <p:sp>
        <p:nvSpPr>
          <p:cNvPr id="6" name="Text 4"/>
          <p:cNvSpPr/>
          <p:nvPr/>
        </p:nvSpPr>
        <p:spPr>
          <a:xfrm>
            <a:off x="1262786" y="2487168"/>
            <a:ext cx="585216" cy="585216"/>
          </a:xfrm>
          <a:prstGeom prst="rect">
            <a:avLst/>
          </a:prstGeom>
          <a:noFill/>
          <a:ln/>
        </p:spPr>
        <p:txBody>
          <a:bodyPr wrap="square" lIns="0" tIns="0" rIns="0" bIns="0" rtlCol="0" anchor="ctr"/>
          <a:lstStyle/>
          <a:p>
            <a:pPr algn="ctr" indent="0" marL="0">
              <a:buNone/>
            </a:pPr>
            <a:r>
              <a:rPr lang="en-US" sz="2400" b="1" dirty="0">
                <a:solidFill>
                  <a:srgbClr val="FFFFFF"/>
                </a:solidFill>
                <a:latin typeface="Bookman Old Style" pitchFamily="34" charset="0"/>
                <a:ea typeface="Bookman Old Style" pitchFamily="34" charset="-122"/>
                <a:cs typeface="Bookman Old Style" pitchFamily="34" charset="-120"/>
              </a:rPr>
              <a:t>1</a:t>
            </a:r>
            <a:endParaRPr lang="en-US" sz="2400" dirty="0"/>
          </a:p>
        </p:txBody>
      </p:sp>
      <p:sp>
        <p:nvSpPr>
          <p:cNvPr id="7" name="Text 5"/>
          <p:cNvSpPr/>
          <p:nvPr/>
        </p:nvSpPr>
        <p:spPr>
          <a:xfrm>
            <a:off x="548640" y="3246120"/>
            <a:ext cx="2013509" cy="411480"/>
          </a:xfrm>
          <a:prstGeom prst="rect">
            <a:avLst/>
          </a:prstGeom>
          <a:noFill/>
          <a:ln/>
        </p:spPr>
        <p:txBody>
          <a:bodyPr wrap="square" lIns="0" tIns="0" rIns="0" bIns="0" rtlCol="0" anchor="ctr"/>
          <a:lstStyle/>
          <a:p>
            <a:pPr algn="ctr" indent="0" marL="0">
              <a:buNone/>
            </a:pPr>
            <a:r>
              <a:rPr lang="en-US" sz="1800" b="1" dirty="0">
                <a:solidFill>
                  <a:srgbClr val="FFFFFF"/>
                </a:solidFill>
                <a:latin typeface="Bookman Old Style" pitchFamily="34" charset="0"/>
                <a:ea typeface="Bookman Old Style" pitchFamily="34" charset="-122"/>
                <a:cs typeface="Bookman Old Style" pitchFamily="34" charset="-120"/>
              </a:rPr>
              <a:t>Data</a:t>
            </a:r>
            <a:endParaRPr lang="en-US" sz="1800" dirty="0"/>
          </a:p>
        </p:txBody>
      </p:sp>
      <p:sp>
        <p:nvSpPr>
          <p:cNvPr id="8" name="Text 6"/>
          <p:cNvSpPr/>
          <p:nvPr/>
        </p:nvSpPr>
        <p:spPr>
          <a:xfrm>
            <a:off x="713232" y="3675888"/>
            <a:ext cx="1684325" cy="1143000"/>
          </a:xfrm>
          <a:prstGeom prst="rect">
            <a:avLst/>
          </a:prstGeom>
          <a:noFill/>
          <a:ln/>
        </p:spPr>
        <p:txBody>
          <a:bodyPr wrap="square" lIns="0" tIns="0" rIns="0" bIns="0" rtlCol="0" anchor="ctr"/>
          <a:lstStyle/>
          <a:p>
            <a:pPr algn="ctr" indent="0" marL="0">
              <a:buNone/>
            </a:pPr>
            <a:r>
              <a:rPr lang="en-US" sz="1200" dirty="0">
                <a:solidFill>
                  <a:srgbClr val="9AA0BD"/>
                </a:solidFill>
                <a:latin typeface="Calibri" pitchFamily="34" charset="0"/>
                <a:ea typeface="Calibri" pitchFamily="34" charset="-122"/>
                <a:cs typeface="Calibri" pitchFamily="34" charset="-120"/>
              </a:rPr>
              <a:t>Public Telco base adapted to a SaaS scenario + engagement features</a:t>
            </a:r>
            <a:endParaRPr lang="en-US" sz="1200" dirty="0"/>
          </a:p>
        </p:txBody>
      </p:sp>
      <p:sp>
        <p:nvSpPr>
          <p:cNvPr id="9" name="Text 7"/>
          <p:cNvSpPr/>
          <p:nvPr/>
        </p:nvSpPr>
        <p:spPr>
          <a:xfrm>
            <a:off x="2543861" y="3108960"/>
            <a:ext cx="256032" cy="548640"/>
          </a:xfrm>
          <a:prstGeom prst="rect">
            <a:avLst/>
          </a:prstGeom>
          <a:noFill/>
          <a:ln/>
        </p:spPr>
        <p:txBody>
          <a:bodyPr wrap="square" lIns="0" tIns="0" rIns="0" bIns="0" rtlCol="0" anchor="ctr"/>
          <a:lstStyle/>
          <a:p>
            <a:pPr algn="ctr" indent="0" marL="0">
              <a:buNone/>
            </a:pPr>
            <a:r>
              <a:rPr lang="en-US" sz="2600" b="1" dirty="0">
                <a:solidFill>
                  <a:srgbClr val="6C8CFF"/>
                </a:solidFill>
                <a:latin typeface="Calibri" pitchFamily="34" charset="0"/>
                <a:ea typeface="Calibri" pitchFamily="34" charset="-122"/>
                <a:cs typeface="Calibri" pitchFamily="34" charset="-120"/>
              </a:rPr>
              <a:t>›</a:t>
            </a:r>
            <a:endParaRPr lang="en-US" sz="2600" dirty="0"/>
          </a:p>
        </p:txBody>
      </p:sp>
      <p:sp>
        <p:nvSpPr>
          <p:cNvPr id="10" name="Shape 8"/>
          <p:cNvSpPr/>
          <p:nvPr/>
        </p:nvSpPr>
        <p:spPr>
          <a:xfrm>
            <a:off x="2818181" y="2194560"/>
            <a:ext cx="2013509" cy="2743200"/>
          </a:xfrm>
          <a:prstGeom prst="roundRect">
            <a:avLst>
              <a:gd name="adj" fmla="val 5450"/>
            </a:avLst>
          </a:prstGeom>
          <a:solidFill>
            <a:srgbClr val="1A1E30"/>
          </a:solidFill>
          <a:ln w="12700">
            <a:solidFill>
              <a:srgbClr val="2E3450"/>
            </a:solidFill>
            <a:prstDash val="solid"/>
          </a:ln>
        </p:spPr>
      </p:sp>
      <p:sp>
        <p:nvSpPr>
          <p:cNvPr id="11" name="Shape 9"/>
          <p:cNvSpPr/>
          <p:nvPr/>
        </p:nvSpPr>
        <p:spPr>
          <a:xfrm>
            <a:off x="3532327" y="2487168"/>
            <a:ext cx="585216" cy="585216"/>
          </a:xfrm>
          <a:prstGeom prst="roundRect">
            <a:avLst>
              <a:gd name="adj" fmla="val 50000"/>
            </a:avLst>
          </a:prstGeom>
          <a:solidFill>
            <a:srgbClr val="6C8CFF"/>
          </a:solidFill>
          <a:ln/>
        </p:spPr>
      </p:sp>
      <p:sp>
        <p:nvSpPr>
          <p:cNvPr id="12" name="Text 10"/>
          <p:cNvSpPr/>
          <p:nvPr/>
        </p:nvSpPr>
        <p:spPr>
          <a:xfrm>
            <a:off x="3532327" y="2487168"/>
            <a:ext cx="585216" cy="585216"/>
          </a:xfrm>
          <a:prstGeom prst="rect">
            <a:avLst/>
          </a:prstGeom>
          <a:noFill/>
          <a:ln/>
        </p:spPr>
        <p:txBody>
          <a:bodyPr wrap="square" lIns="0" tIns="0" rIns="0" bIns="0" rtlCol="0" anchor="ctr"/>
          <a:lstStyle/>
          <a:p>
            <a:pPr algn="ctr" indent="0" marL="0">
              <a:buNone/>
            </a:pPr>
            <a:r>
              <a:rPr lang="en-US" sz="2400" b="1" dirty="0">
                <a:solidFill>
                  <a:srgbClr val="FFFFFF"/>
                </a:solidFill>
                <a:latin typeface="Bookman Old Style" pitchFamily="34" charset="0"/>
                <a:ea typeface="Bookman Old Style" pitchFamily="34" charset="-122"/>
                <a:cs typeface="Bookman Old Style" pitchFamily="34" charset="-120"/>
              </a:rPr>
              <a:t>2</a:t>
            </a:r>
            <a:endParaRPr lang="en-US" sz="2400" dirty="0"/>
          </a:p>
        </p:txBody>
      </p:sp>
      <p:sp>
        <p:nvSpPr>
          <p:cNvPr id="13" name="Text 11"/>
          <p:cNvSpPr/>
          <p:nvPr/>
        </p:nvSpPr>
        <p:spPr>
          <a:xfrm>
            <a:off x="2818181" y="3246120"/>
            <a:ext cx="2013509" cy="411480"/>
          </a:xfrm>
          <a:prstGeom prst="rect">
            <a:avLst/>
          </a:prstGeom>
          <a:noFill/>
          <a:ln/>
        </p:spPr>
        <p:txBody>
          <a:bodyPr wrap="square" lIns="0" tIns="0" rIns="0" bIns="0" rtlCol="0" anchor="ctr"/>
          <a:lstStyle/>
          <a:p>
            <a:pPr algn="ctr" indent="0" marL="0">
              <a:buNone/>
            </a:pPr>
            <a:r>
              <a:rPr lang="en-US" sz="1800" b="1" dirty="0">
                <a:solidFill>
                  <a:srgbClr val="FFFFFF"/>
                </a:solidFill>
                <a:latin typeface="Bookman Old Style" pitchFamily="34" charset="0"/>
                <a:ea typeface="Bookman Old Style" pitchFamily="34" charset="-122"/>
                <a:cs typeface="Bookman Old Style" pitchFamily="34" charset="-120"/>
              </a:rPr>
              <a:t>Model</a:t>
            </a:r>
            <a:endParaRPr lang="en-US" sz="1800" dirty="0"/>
          </a:p>
        </p:txBody>
      </p:sp>
      <p:sp>
        <p:nvSpPr>
          <p:cNvPr id="14" name="Text 12"/>
          <p:cNvSpPr/>
          <p:nvPr/>
        </p:nvSpPr>
        <p:spPr>
          <a:xfrm>
            <a:off x="2982773" y="3675888"/>
            <a:ext cx="1684325" cy="1143000"/>
          </a:xfrm>
          <a:prstGeom prst="rect">
            <a:avLst/>
          </a:prstGeom>
          <a:noFill/>
          <a:ln/>
        </p:spPr>
        <p:txBody>
          <a:bodyPr wrap="square" lIns="0" tIns="0" rIns="0" bIns="0" rtlCol="0" anchor="ctr"/>
          <a:lstStyle/>
          <a:p>
            <a:pPr algn="ctr" indent="0" marL="0">
              <a:buNone/>
            </a:pPr>
            <a:r>
              <a:rPr lang="en-US" sz="1200" dirty="0">
                <a:solidFill>
                  <a:srgbClr val="9AA0BD"/>
                </a:solidFill>
                <a:latin typeface="Calibri" pitchFamily="34" charset="0"/>
                <a:ea typeface="Calibri" pitchFamily="34" charset="-122"/>
                <a:cs typeface="Calibri" pitchFamily="34" charset="-120"/>
              </a:rPr>
              <a:t>SMOTE for imbalance; Logistic Reg., Random Forest, XGBoost</a:t>
            </a:r>
            <a:endParaRPr lang="en-US" sz="1200" dirty="0"/>
          </a:p>
        </p:txBody>
      </p:sp>
      <p:sp>
        <p:nvSpPr>
          <p:cNvPr id="15" name="Text 13"/>
          <p:cNvSpPr/>
          <p:nvPr/>
        </p:nvSpPr>
        <p:spPr>
          <a:xfrm>
            <a:off x="4813402" y="3108960"/>
            <a:ext cx="256032" cy="548640"/>
          </a:xfrm>
          <a:prstGeom prst="rect">
            <a:avLst/>
          </a:prstGeom>
          <a:noFill/>
          <a:ln/>
        </p:spPr>
        <p:txBody>
          <a:bodyPr wrap="square" lIns="0" tIns="0" rIns="0" bIns="0" rtlCol="0" anchor="ctr"/>
          <a:lstStyle/>
          <a:p>
            <a:pPr algn="ctr" indent="0" marL="0">
              <a:buNone/>
            </a:pPr>
            <a:r>
              <a:rPr lang="en-US" sz="2600" b="1" dirty="0">
                <a:solidFill>
                  <a:srgbClr val="6C8CFF"/>
                </a:solidFill>
                <a:latin typeface="Calibri" pitchFamily="34" charset="0"/>
                <a:ea typeface="Calibri" pitchFamily="34" charset="-122"/>
                <a:cs typeface="Calibri" pitchFamily="34" charset="-120"/>
              </a:rPr>
              <a:t>›</a:t>
            </a:r>
            <a:endParaRPr lang="en-US" sz="2600" dirty="0"/>
          </a:p>
        </p:txBody>
      </p:sp>
      <p:sp>
        <p:nvSpPr>
          <p:cNvPr id="16" name="Shape 14"/>
          <p:cNvSpPr/>
          <p:nvPr/>
        </p:nvSpPr>
        <p:spPr>
          <a:xfrm>
            <a:off x="5087722" y="2194560"/>
            <a:ext cx="2013509" cy="2743200"/>
          </a:xfrm>
          <a:prstGeom prst="roundRect">
            <a:avLst>
              <a:gd name="adj" fmla="val 5450"/>
            </a:avLst>
          </a:prstGeom>
          <a:solidFill>
            <a:srgbClr val="1A1E30"/>
          </a:solidFill>
          <a:ln w="12700">
            <a:solidFill>
              <a:srgbClr val="2E3450"/>
            </a:solidFill>
            <a:prstDash val="solid"/>
          </a:ln>
        </p:spPr>
      </p:sp>
      <p:sp>
        <p:nvSpPr>
          <p:cNvPr id="17" name="Shape 15"/>
          <p:cNvSpPr/>
          <p:nvPr/>
        </p:nvSpPr>
        <p:spPr>
          <a:xfrm>
            <a:off x="5801868" y="2487168"/>
            <a:ext cx="585216" cy="585216"/>
          </a:xfrm>
          <a:prstGeom prst="roundRect">
            <a:avLst>
              <a:gd name="adj" fmla="val 50000"/>
            </a:avLst>
          </a:prstGeom>
          <a:solidFill>
            <a:srgbClr val="6C8CFF"/>
          </a:solidFill>
          <a:ln/>
        </p:spPr>
      </p:sp>
      <p:sp>
        <p:nvSpPr>
          <p:cNvPr id="18" name="Text 16"/>
          <p:cNvSpPr/>
          <p:nvPr/>
        </p:nvSpPr>
        <p:spPr>
          <a:xfrm>
            <a:off x="5801868" y="2487168"/>
            <a:ext cx="585216" cy="585216"/>
          </a:xfrm>
          <a:prstGeom prst="rect">
            <a:avLst/>
          </a:prstGeom>
          <a:noFill/>
          <a:ln/>
        </p:spPr>
        <p:txBody>
          <a:bodyPr wrap="square" lIns="0" tIns="0" rIns="0" bIns="0" rtlCol="0" anchor="ctr"/>
          <a:lstStyle/>
          <a:p>
            <a:pPr algn="ctr" indent="0" marL="0">
              <a:buNone/>
            </a:pPr>
            <a:r>
              <a:rPr lang="en-US" sz="2400" b="1" dirty="0">
                <a:solidFill>
                  <a:srgbClr val="FFFFFF"/>
                </a:solidFill>
                <a:latin typeface="Bookman Old Style" pitchFamily="34" charset="0"/>
                <a:ea typeface="Bookman Old Style" pitchFamily="34" charset="-122"/>
                <a:cs typeface="Bookman Old Style" pitchFamily="34" charset="-120"/>
              </a:rPr>
              <a:t>3</a:t>
            </a:r>
            <a:endParaRPr lang="en-US" sz="2400" dirty="0"/>
          </a:p>
        </p:txBody>
      </p:sp>
      <p:sp>
        <p:nvSpPr>
          <p:cNvPr id="19" name="Text 17"/>
          <p:cNvSpPr/>
          <p:nvPr/>
        </p:nvSpPr>
        <p:spPr>
          <a:xfrm>
            <a:off x="5087722" y="3246120"/>
            <a:ext cx="2013509" cy="411480"/>
          </a:xfrm>
          <a:prstGeom prst="rect">
            <a:avLst/>
          </a:prstGeom>
          <a:noFill/>
          <a:ln/>
        </p:spPr>
        <p:txBody>
          <a:bodyPr wrap="square" lIns="0" tIns="0" rIns="0" bIns="0" rtlCol="0" anchor="ctr"/>
          <a:lstStyle/>
          <a:p>
            <a:pPr algn="ctr" indent="0" marL="0">
              <a:buNone/>
            </a:pPr>
            <a:r>
              <a:rPr lang="en-US" sz="1800" b="1" dirty="0">
                <a:solidFill>
                  <a:srgbClr val="FFFFFF"/>
                </a:solidFill>
                <a:latin typeface="Bookman Old Style" pitchFamily="34" charset="0"/>
                <a:ea typeface="Bookman Old Style" pitchFamily="34" charset="-122"/>
                <a:cs typeface="Bookman Old Style" pitchFamily="34" charset="-120"/>
              </a:rPr>
              <a:t>Evaluate</a:t>
            </a:r>
            <a:endParaRPr lang="en-US" sz="1800" dirty="0"/>
          </a:p>
        </p:txBody>
      </p:sp>
      <p:sp>
        <p:nvSpPr>
          <p:cNvPr id="20" name="Text 18"/>
          <p:cNvSpPr/>
          <p:nvPr/>
        </p:nvSpPr>
        <p:spPr>
          <a:xfrm>
            <a:off x="5252314" y="3675888"/>
            <a:ext cx="1684325" cy="1143000"/>
          </a:xfrm>
          <a:prstGeom prst="rect">
            <a:avLst/>
          </a:prstGeom>
          <a:noFill/>
          <a:ln/>
        </p:spPr>
        <p:txBody>
          <a:bodyPr wrap="square" lIns="0" tIns="0" rIns="0" bIns="0" rtlCol="0" anchor="ctr"/>
          <a:lstStyle/>
          <a:p>
            <a:pPr algn="ctr" indent="0" marL="0">
              <a:buNone/>
            </a:pPr>
            <a:r>
              <a:rPr lang="en-US" sz="1200" dirty="0">
                <a:solidFill>
                  <a:srgbClr val="9AA0BD"/>
                </a:solidFill>
                <a:latin typeface="Calibri" pitchFamily="34" charset="0"/>
                <a:ea typeface="Calibri" pitchFamily="34" charset="-122"/>
                <a:cs typeface="Calibri" pitchFamily="34" charset="-120"/>
              </a:rPr>
              <a:t>F2-tuned threshold; AUC, recall, precision on a future test set</a:t>
            </a:r>
            <a:endParaRPr lang="en-US" sz="1200" dirty="0"/>
          </a:p>
        </p:txBody>
      </p:sp>
      <p:sp>
        <p:nvSpPr>
          <p:cNvPr id="21" name="Text 19"/>
          <p:cNvSpPr/>
          <p:nvPr/>
        </p:nvSpPr>
        <p:spPr>
          <a:xfrm>
            <a:off x="7082942" y="3108960"/>
            <a:ext cx="256032" cy="548640"/>
          </a:xfrm>
          <a:prstGeom prst="rect">
            <a:avLst/>
          </a:prstGeom>
          <a:noFill/>
          <a:ln/>
        </p:spPr>
        <p:txBody>
          <a:bodyPr wrap="square" lIns="0" tIns="0" rIns="0" bIns="0" rtlCol="0" anchor="ctr"/>
          <a:lstStyle/>
          <a:p>
            <a:pPr algn="ctr" indent="0" marL="0">
              <a:buNone/>
            </a:pPr>
            <a:r>
              <a:rPr lang="en-US" sz="2600" b="1" dirty="0">
                <a:solidFill>
                  <a:srgbClr val="6C8CFF"/>
                </a:solidFill>
                <a:latin typeface="Calibri" pitchFamily="34" charset="0"/>
                <a:ea typeface="Calibri" pitchFamily="34" charset="-122"/>
                <a:cs typeface="Calibri" pitchFamily="34" charset="-120"/>
              </a:rPr>
              <a:t>›</a:t>
            </a:r>
            <a:endParaRPr lang="en-US" sz="2600" dirty="0"/>
          </a:p>
        </p:txBody>
      </p:sp>
      <p:sp>
        <p:nvSpPr>
          <p:cNvPr id="22" name="Shape 20"/>
          <p:cNvSpPr/>
          <p:nvPr/>
        </p:nvSpPr>
        <p:spPr>
          <a:xfrm>
            <a:off x="7357262" y="2194560"/>
            <a:ext cx="2013509" cy="2743200"/>
          </a:xfrm>
          <a:prstGeom prst="roundRect">
            <a:avLst>
              <a:gd name="adj" fmla="val 5450"/>
            </a:avLst>
          </a:prstGeom>
          <a:solidFill>
            <a:srgbClr val="1A1E30"/>
          </a:solidFill>
          <a:ln w="12700">
            <a:solidFill>
              <a:srgbClr val="2E3450"/>
            </a:solidFill>
            <a:prstDash val="solid"/>
          </a:ln>
        </p:spPr>
      </p:sp>
      <p:sp>
        <p:nvSpPr>
          <p:cNvPr id="23" name="Shape 21"/>
          <p:cNvSpPr/>
          <p:nvPr/>
        </p:nvSpPr>
        <p:spPr>
          <a:xfrm>
            <a:off x="8071409" y="2487168"/>
            <a:ext cx="585216" cy="585216"/>
          </a:xfrm>
          <a:prstGeom prst="roundRect">
            <a:avLst>
              <a:gd name="adj" fmla="val 50000"/>
            </a:avLst>
          </a:prstGeom>
          <a:solidFill>
            <a:srgbClr val="6C8CFF"/>
          </a:solidFill>
          <a:ln/>
        </p:spPr>
      </p:sp>
      <p:sp>
        <p:nvSpPr>
          <p:cNvPr id="24" name="Text 22"/>
          <p:cNvSpPr/>
          <p:nvPr/>
        </p:nvSpPr>
        <p:spPr>
          <a:xfrm>
            <a:off x="8071409" y="2487168"/>
            <a:ext cx="585216" cy="585216"/>
          </a:xfrm>
          <a:prstGeom prst="rect">
            <a:avLst/>
          </a:prstGeom>
          <a:noFill/>
          <a:ln/>
        </p:spPr>
        <p:txBody>
          <a:bodyPr wrap="square" lIns="0" tIns="0" rIns="0" bIns="0" rtlCol="0" anchor="ctr"/>
          <a:lstStyle/>
          <a:p>
            <a:pPr algn="ctr" indent="0" marL="0">
              <a:buNone/>
            </a:pPr>
            <a:r>
              <a:rPr lang="en-US" sz="2400" b="1" dirty="0">
                <a:solidFill>
                  <a:srgbClr val="FFFFFF"/>
                </a:solidFill>
                <a:latin typeface="Bookman Old Style" pitchFamily="34" charset="0"/>
                <a:ea typeface="Bookman Old Style" pitchFamily="34" charset="-122"/>
                <a:cs typeface="Bookman Old Style" pitchFamily="34" charset="-120"/>
              </a:rPr>
              <a:t>4</a:t>
            </a:r>
            <a:endParaRPr lang="en-US" sz="2400" dirty="0"/>
          </a:p>
        </p:txBody>
      </p:sp>
      <p:sp>
        <p:nvSpPr>
          <p:cNvPr id="25" name="Text 23"/>
          <p:cNvSpPr/>
          <p:nvPr/>
        </p:nvSpPr>
        <p:spPr>
          <a:xfrm>
            <a:off x="7357262" y="3246120"/>
            <a:ext cx="2013509" cy="411480"/>
          </a:xfrm>
          <a:prstGeom prst="rect">
            <a:avLst/>
          </a:prstGeom>
          <a:noFill/>
          <a:ln/>
        </p:spPr>
        <p:txBody>
          <a:bodyPr wrap="square" lIns="0" tIns="0" rIns="0" bIns="0" rtlCol="0" anchor="ctr"/>
          <a:lstStyle/>
          <a:p>
            <a:pPr algn="ctr" indent="0" marL="0">
              <a:buNone/>
            </a:pPr>
            <a:r>
              <a:rPr lang="en-US" sz="1800" b="1" dirty="0">
                <a:solidFill>
                  <a:srgbClr val="FFFFFF"/>
                </a:solidFill>
                <a:latin typeface="Bookman Old Style" pitchFamily="34" charset="0"/>
                <a:ea typeface="Bookman Old Style" pitchFamily="34" charset="-122"/>
                <a:cs typeface="Bookman Old Style" pitchFamily="34" charset="-120"/>
              </a:rPr>
              <a:t>Explain</a:t>
            </a:r>
            <a:endParaRPr lang="en-US" sz="1800" dirty="0"/>
          </a:p>
        </p:txBody>
      </p:sp>
      <p:sp>
        <p:nvSpPr>
          <p:cNvPr id="26" name="Text 24"/>
          <p:cNvSpPr/>
          <p:nvPr/>
        </p:nvSpPr>
        <p:spPr>
          <a:xfrm>
            <a:off x="7521854" y="3675888"/>
            <a:ext cx="1684325" cy="1143000"/>
          </a:xfrm>
          <a:prstGeom prst="rect">
            <a:avLst/>
          </a:prstGeom>
          <a:noFill/>
          <a:ln/>
        </p:spPr>
        <p:txBody>
          <a:bodyPr wrap="square" lIns="0" tIns="0" rIns="0" bIns="0" rtlCol="0" anchor="ctr"/>
          <a:lstStyle/>
          <a:p>
            <a:pPr algn="ctr" indent="0" marL="0">
              <a:buNone/>
            </a:pPr>
            <a:r>
              <a:rPr lang="en-US" sz="1200" dirty="0">
                <a:solidFill>
                  <a:srgbClr val="9AA0BD"/>
                </a:solidFill>
                <a:latin typeface="Calibri" pitchFamily="34" charset="0"/>
                <a:ea typeface="Calibri" pitchFamily="34" charset="-122"/>
                <a:cs typeface="Calibri" pitchFamily="34" charset="-120"/>
              </a:rPr>
              <a:t>SHAP shows why each customer is flagged</a:t>
            </a:r>
            <a:endParaRPr lang="en-US" sz="1200" dirty="0"/>
          </a:p>
        </p:txBody>
      </p:sp>
      <p:sp>
        <p:nvSpPr>
          <p:cNvPr id="27" name="Text 25"/>
          <p:cNvSpPr/>
          <p:nvPr/>
        </p:nvSpPr>
        <p:spPr>
          <a:xfrm>
            <a:off x="9352483" y="3108960"/>
            <a:ext cx="256032" cy="548640"/>
          </a:xfrm>
          <a:prstGeom prst="rect">
            <a:avLst/>
          </a:prstGeom>
          <a:noFill/>
          <a:ln/>
        </p:spPr>
        <p:txBody>
          <a:bodyPr wrap="square" lIns="0" tIns="0" rIns="0" bIns="0" rtlCol="0" anchor="ctr"/>
          <a:lstStyle/>
          <a:p>
            <a:pPr algn="ctr" indent="0" marL="0">
              <a:buNone/>
            </a:pPr>
            <a:r>
              <a:rPr lang="en-US" sz="2600" b="1" dirty="0">
                <a:solidFill>
                  <a:srgbClr val="6C8CFF"/>
                </a:solidFill>
                <a:latin typeface="Calibri" pitchFamily="34" charset="0"/>
                <a:ea typeface="Calibri" pitchFamily="34" charset="-122"/>
                <a:cs typeface="Calibri" pitchFamily="34" charset="-120"/>
              </a:rPr>
              <a:t>›</a:t>
            </a:r>
            <a:endParaRPr lang="en-US" sz="2600" dirty="0"/>
          </a:p>
        </p:txBody>
      </p:sp>
      <p:sp>
        <p:nvSpPr>
          <p:cNvPr id="28" name="Shape 26"/>
          <p:cNvSpPr/>
          <p:nvPr/>
        </p:nvSpPr>
        <p:spPr>
          <a:xfrm>
            <a:off x="9626803" y="2194560"/>
            <a:ext cx="2013509" cy="2743200"/>
          </a:xfrm>
          <a:prstGeom prst="roundRect">
            <a:avLst>
              <a:gd name="adj" fmla="val 5450"/>
            </a:avLst>
          </a:prstGeom>
          <a:solidFill>
            <a:srgbClr val="1A1E30"/>
          </a:solidFill>
          <a:ln w="12700">
            <a:solidFill>
              <a:srgbClr val="2E3450"/>
            </a:solidFill>
            <a:prstDash val="solid"/>
          </a:ln>
        </p:spPr>
      </p:sp>
      <p:sp>
        <p:nvSpPr>
          <p:cNvPr id="29" name="Shape 27"/>
          <p:cNvSpPr/>
          <p:nvPr/>
        </p:nvSpPr>
        <p:spPr>
          <a:xfrm>
            <a:off x="10340950" y="2487168"/>
            <a:ext cx="585216" cy="585216"/>
          </a:xfrm>
          <a:prstGeom prst="roundRect">
            <a:avLst>
              <a:gd name="adj" fmla="val 50000"/>
            </a:avLst>
          </a:prstGeom>
          <a:solidFill>
            <a:srgbClr val="6C8CFF"/>
          </a:solidFill>
          <a:ln/>
        </p:spPr>
      </p:sp>
      <p:sp>
        <p:nvSpPr>
          <p:cNvPr id="30" name="Text 28"/>
          <p:cNvSpPr/>
          <p:nvPr/>
        </p:nvSpPr>
        <p:spPr>
          <a:xfrm>
            <a:off x="10340950" y="2487168"/>
            <a:ext cx="585216" cy="585216"/>
          </a:xfrm>
          <a:prstGeom prst="rect">
            <a:avLst/>
          </a:prstGeom>
          <a:noFill/>
          <a:ln/>
        </p:spPr>
        <p:txBody>
          <a:bodyPr wrap="square" lIns="0" tIns="0" rIns="0" bIns="0" rtlCol="0" anchor="ctr"/>
          <a:lstStyle/>
          <a:p>
            <a:pPr algn="ctr" indent="0" marL="0">
              <a:buNone/>
            </a:pPr>
            <a:r>
              <a:rPr lang="en-US" sz="2400" b="1" dirty="0">
                <a:solidFill>
                  <a:srgbClr val="FFFFFF"/>
                </a:solidFill>
                <a:latin typeface="Bookman Old Style" pitchFamily="34" charset="0"/>
                <a:ea typeface="Bookman Old Style" pitchFamily="34" charset="-122"/>
                <a:cs typeface="Bookman Old Style" pitchFamily="34" charset="-120"/>
              </a:rPr>
              <a:t>5</a:t>
            </a:r>
            <a:endParaRPr lang="en-US" sz="2400" dirty="0"/>
          </a:p>
        </p:txBody>
      </p:sp>
      <p:sp>
        <p:nvSpPr>
          <p:cNvPr id="31" name="Text 29"/>
          <p:cNvSpPr/>
          <p:nvPr/>
        </p:nvSpPr>
        <p:spPr>
          <a:xfrm>
            <a:off x="9626803" y="3246120"/>
            <a:ext cx="2013509" cy="411480"/>
          </a:xfrm>
          <a:prstGeom prst="rect">
            <a:avLst/>
          </a:prstGeom>
          <a:noFill/>
          <a:ln/>
        </p:spPr>
        <p:txBody>
          <a:bodyPr wrap="square" lIns="0" tIns="0" rIns="0" bIns="0" rtlCol="0" anchor="ctr"/>
          <a:lstStyle/>
          <a:p>
            <a:pPr algn="ctr" indent="0" marL="0">
              <a:buNone/>
            </a:pPr>
            <a:r>
              <a:rPr lang="en-US" sz="1800" b="1" dirty="0">
                <a:solidFill>
                  <a:srgbClr val="FFFFFF"/>
                </a:solidFill>
                <a:latin typeface="Bookman Old Style" pitchFamily="34" charset="0"/>
                <a:ea typeface="Bookman Old Style" pitchFamily="34" charset="-122"/>
                <a:cs typeface="Bookman Old Style" pitchFamily="34" charset="-120"/>
              </a:rPr>
              <a:t>Act</a:t>
            </a:r>
            <a:endParaRPr lang="en-US" sz="1800" dirty="0"/>
          </a:p>
        </p:txBody>
      </p:sp>
      <p:sp>
        <p:nvSpPr>
          <p:cNvPr id="32" name="Text 30"/>
          <p:cNvSpPr/>
          <p:nvPr/>
        </p:nvSpPr>
        <p:spPr>
          <a:xfrm>
            <a:off x="9791395" y="3675888"/>
            <a:ext cx="1684325" cy="1143000"/>
          </a:xfrm>
          <a:prstGeom prst="rect">
            <a:avLst/>
          </a:prstGeom>
          <a:noFill/>
          <a:ln/>
        </p:spPr>
        <p:txBody>
          <a:bodyPr wrap="square" lIns="0" tIns="0" rIns="0" bIns="0" rtlCol="0" anchor="ctr"/>
          <a:lstStyle/>
          <a:p>
            <a:pPr algn="ctr" indent="0" marL="0">
              <a:buNone/>
            </a:pPr>
            <a:r>
              <a:rPr lang="en-US" sz="1200" dirty="0">
                <a:solidFill>
                  <a:srgbClr val="9AA0BD"/>
                </a:solidFill>
                <a:latin typeface="Calibri" pitchFamily="34" charset="0"/>
                <a:ea typeface="Calibri" pitchFamily="34" charset="-122"/>
                <a:cs typeface="Calibri" pitchFamily="34" charset="-120"/>
              </a:rPr>
              <a:t>Weekly batch scores → risk tiers → retention actions</a:t>
            </a:r>
            <a:endParaRPr lang="en-US" sz="1200" dirty="0"/>
          </a:p>
        </p:txBody>
      </p:sp>
      <p:sp>
        <p:nvSpPr>
          <p:cNvPr id="33" name="Shape 31"/>
          <p:cNvSpPr/>
          <p:nvPr/>
        </p:nvSpPr>
        <p:spPr>
          <a:xfrm>
            <a:off x="548640" y="5257800"/>
            <a:ext cx="11091672" cy="868680"/>
          </a:xfrm>
          <a:prstGeom prst="roundRect">
            <a:avLst>
              <a:gd name="adj" fmla="val 12632"/>
            </a:avLst>
          </a:prstGeom>
          <a:solidFill>
            <a:srgbClr val="232840"/>
          </a:solidFill>
          <a:ln w="12700">
            <a:solidFill>
              <a:srgbClr val="2E3450"/>
            </a:solidFill>
            <a:prstDash val="solid"/>
          </a:ln>
        </p:spPr>
      </p:sp>
      <p:sp>
        <p:nvSpPr>
          <p:cNvPr id="34" name="Text 32"/>
          <p:cNvSpPr/>
          <p:nvPr/>
        </p:nvSpPr>
        <p:spPr>
          <a:xfrm>
            <a:off x="822960" y="5257800"/>
            <a:ext cx="10607040" cy="868680"/>
          </a:xfrm>
          <a:prstGeom prst="rect">
            <a:avLst/>
          </a:prstGeom>
          <a:noFill/>
          <a:ln/>
        </p:spPr>
        <p:txBody>
          <a:bodyPr wrap="square" lIns="0" tIns="0" rIns="0" bIns="0" rtlCol="0" anchor="ctr"/>
          <a:lstStyle/>
          <a:p>
            <a:pPr indent="0" marL="0">
              <a:buNone/>
            </a:pPr>
            <a:r>
              <a:rPr lang="en-US" sz="1400" b="1" dirty="0">
                <a:solidFill>
                  <a:srgbClr val="F0A04B"/>
                </a:solidFill>
                <a:latin typeface="Calibri" pitchFamily="34" charset="0"/>
                <a:ea typeface="Calibri" pitchFamily="34" charset="-122"/>
                <a:cs typeface="Calibri" pitchFamily="34" charset="-120"/>
              </a:rPr>
              <a:t>Deliverables:  </a:t>
            </a:r>
            <a:pPr indent="0" marL="0">
              <a:buNone/>
            </a:pPr>
            <a:r>
              <a:rPr lang="en-US" sz="1400" dirty="0">
                <a:solidFill>
                  <a:srgbClr val="D8DCEF"/>
                </a:solidFill>
                <a:latin typeface="Calibri" pitchFamily="34" charset="0"/>
                <a:ea typeface="Calibri" pitchFamily="34" charset="-122"/>
                <a:cs typeface="Calibri" pitchFamily="34" charset="-120"/>
              </a:rPr>
              <a:t>reproducible pipeline (Python)  ·  executed notebook  ·  trained model  ·  interactive web demo</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220"/>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300" b="1" spc="200" kern="0" dirty="0">
                <a:solidFill>
                  <a:srgbClr val="6C8CFF"/>
                </a:solidFill>
                <a:latin typeface="Calibri" pitchFamily="34" charset="0"/>
                <a:ea typeface="Calibri" pitchFamily="34" charset="-122"/>
                <a:cs typeface="Calibri" pitchFamily="34" charset="-120"/>
              </a:rPr>
              <a:t>DATASET</a:t>
            </a:r>
            <a:endParaRPr lang="en-US" sz="13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indent="0" marL="0">
              <a:buNone/>
            </a:pPr>
            <a:r>
              <a:rPr lang="en-US" sz="3000" b="1" dirty="0">
                <a:solidFill>
                  <a:srgbClr val="FFFFFF"/>
                </a:solidFill>
                <a:latin typeface="Bookman Old Style" pitchFamily="34" charset="0"/>
                <a:ea typeface="Bookman Old Style" pitchFamily="34" charset="-122"/>
                <a:cs typeface="Bookman Old Style" pitchFamily="34" charset="-120"/>
              </a:rPr>
              <a:t>Real public data, adapted to a SaaS scenario</a:t>
            </a:r>
            <a:endParaRPr lang="en-US" sz="3000" dirty="0"/>
          </a:p>
        </p:txBody>
      </p:sp>
      <p:sp>
        <p:nvSpPr>
          <p:cNvPr id="4" name="Shape 2"/>
          <p:cNvSpPr/>
          <p:nvPr/>
        </p:nvSpPr>
        <p:spPr>
          <a:xfrm>
            <a:off x="548640" y="1975104"/>
            <a:ext cx="146304" cy="146304"/>
          </a:xfrm>
          <a:prstGeom prst="roundRect">
            <a:avLst>
              <a:gd name="adj" fmla="val 50000"/>
            </a:avLst>
          </a:prstGeom>
          <a:solidFill>
            <a:srgbClr val="6C8CFF"/>
          </a:solidFill>
          <a:ln/>
        </p:spPr>
      </p:sp>
      <p:sp>
        <p:nvSpPr>
          <p:cNvPr id="5" name="Text 3"/>
          <p:cNvSpPr/>
          <p:nvPr/>
        </p:nvSpPr>
        <p:spPr>
          <a:xfrm>
            <a:off x="868680" y="1810512"/>
            <a:ext cx="4892040" cy="86868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Base: </a:t>
            </a:r>
            <a:pPr indent="0" marL="0">
              <a:buNone/>
            </a:pPr>
            <a:r>
              <a:rPr lang="en-US" sz="1450" dirty="0">
                <a:solidFill>
                  <a:srgbClr val="D8DCEF"/>
                </a:solidFill>
                <a:latin typeface="Calibri" pitchFamily="34" charset="0"/>
                <a:ea typeface="Calibri" pitchFamily="34" charset="-122"/>
                <a:cs typeface="Calibri" pitchFamily="34" charset="-120"/>
              </a:rPr>
              <a:t>Kaggle Telco Customer Churn — 7,043 real, labelled customers.</a:t>
            </a:r>
            <a:endParaRPr lang="en-US" sz="1450" dirty="0"/>
          </a:p>
        </p:txBody>
      </p:sp>
      <p:sp>
        <p:nvSpPr>
          <p:cNvPr id="6" name="Shape 4"/>
          <p:cNvSpPr/>
          <p:nvPr/>
        </p:nvSpPr>
        <p:spPr>
          <a:xfrm>
            <a:off x="548640" y="2907792"/>
            <a:ext cx="146304" cy="146304"/>
          </a:xfrm>
          <a:prstGeom prst="roundRect">
            <a:avLst>
              <a:gd name="adj" fmla="val 50000"/>
            </a:avLst>
          </a:prstGeom>
          <a:solidFill>
            <a:srgbClr val="6C8CFF"/>
          </a:solidFill>
          <a:ln/>
        </p:spPr>
      </p:sp>
      <p:sp>
        <p:nvSpPr>
          <p:cNvPr id="7" name="Text 5"/>
          <p:cNvSpPr/>
          <p:nvPr/>
        </p:nvSpPr>
        <p:spPr>
          <a:xfrm>
            <a:off x="868680" y="2743200"/>
            <a:ext cx="4892040" cy="86868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Adapted: </a:t>
            </a:r>
            <a:pPr indent="0" marL="0">
              <a:buNone/>
            </a:pPr>
            <a:r>
              <a:rPr lang="en-US" sz="1450" dirty="0">
                <a:solidFill>
                  <a:srgbClr val="D8DCEF"/>
                </a:solidFill>
                <a:latin typeface="Calibri" pitchFamily="34" charset="0"/>
                <a:ea typeface="Calibri" pitchFamily="34" charset="-122"/>
                <a:cs typeface="Calibri" pitchFamily="34" charset="-120"/>
              </a:rPr>
              <a:t>columns reinterpreted (tenure → months subscribed, contract → plan).</a:t>
            </a:r>
            <a:endParaRPr lang="en-US" sz="1450" dirty="0"/>
          </a:p>
        </p:txBody>
      </p:sp>
      <p:sp>
        <p:nvSpPr>
          <p:cNvPr id="8" name="Shape 6"/>
          <p:cNvSpPr/>
          <p:nvPr/>
        </p:nvSpPr>
        <p:spPr>
          <a:xfrm>
            <a:off x="548640" y="3840480"/>
            <a:ext cx="146304" cy="146304"/>
          </a:xfrm>
          <a:prstGeom prst="roundRect">
            <a:avLst>
              <a:gd name="adj" fmla="val 50000"/>
            </a:avLst>
          </a:prstGeom>
          <a:solidFill>
            <a:srgbClr val="6C8CFF"/>
          </a:solidFill>
          <a:ln/>
        </p:spPr>
      </p:sp>
      <p:sp>
        <p:nvSpPr>
          <p:cNvPr id="9" name="Text 7"/>
          <p:cNvSpPr/>
          <p:nvPr/>
        </p:nvSpPr>
        <p:spPr>
          <a:xfrm>
            <a:off x="868680" y="3675888"/>
            <a:ext cx="4892040" cy="86868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Engagement: </a:t>
            </a:r>
            <a:pPr indent="0" marL="0">
              <a:buNone/>
            </a:pPr>
            <a:r>
              <a:rPr lang="en-US" sz="1450" dirty="0">
                <a:solidFill>
                  <a:srgbClr val="D8DCEF"/>
                </a:solidFill>
                <a:latin typeface="Calibri" pitchFamily="34" charset="0"/>
                <a:ea typeface="Calibri" pitchFamily="34" charset="-122"/>
                <a:cs typeface="Calibri" pitchFamily="34" charset="-120"/>
              </a:rPr>
              <a:t>5 behavioural features (logins, features used, tickets, recency, usage trend).</a:t>
            </a:r>
            <a:endParaRPr lang="en-US" sz="1450" dirty="0"/>
          </a:p>
        </p:txBody>
      </p:sp>
      <p:sp>
        <p:nvSpPr>
          <p:cNvPr id="10" name="Shape 8"/>
          <p:cNvSpPr/>
          <p:nvPr/>
        </p:nvSpPr>
        <p:spPr>
          <a:xfrm>
            <a:off x="548640" y="4773168"/>
            <a:ext cx="146304" cy="146304"/>
          </a:xfrm>
          <a:prstGeom prst="roundRect">
            <a:avLst>
              <a:gd name="adj" fmla="val 50000"/>
            </a:avLst>
          </a:prstGeom>
          <a:solidFill>
            <a:srgbClr val="6C8CFF"/>
          </a:solidFill>
          <a:ln/>
        </p:spPr>
      </p:sp>
      <p:sp>
        <p:nvSpPr>
          <p:cNvPr id="11" name="Text 9"/>
          <p:cNvSpPr/>
          <p:nvPr/>
        </p:nvSpPr>
        <p:spPr>
          <a:xfrm>
            <a:off x="868680" y="4608576"/>
            <a:ext cx="4892040" cy="86868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Realism: </a:t>
            </a:r>
            <a:pPr indent="0" marL="0">
              <a:buNone/>
            </a:pPr>
            <a:r>
              <a:rPr lang="en-US" sz="1450" dirty="0">
                <a:solidFill>
                  <a:srgbClr val="D8DCEF"/>
                </a:solidFill>
                <a:latin typeface="Calibri" pitchFamily="34" charset="0"/>
                <a:ea typeface="Calibri" pitchFamily="34" charset="-122"/>
                <a:cs typeface="Calibri" pitchFamily="34" charset="-120"/>
              </a:rPr>
              <a:t>churn downsampled to 5% → final 5,446 customers, ~25 features.</a:t>
            </a:r>
            <a:endParaRPr lang="en-US" sz="1450" dirty="0"/>
          </a:p>
        </p:txBody>
      </p:sp>
      <p:sp>
        <p:nvSpPr>
          <p:cNvPr id="12" name="Text 10"/>
          <p:cNvSpPr/>
          <p:nvPr/>
        </p:nvSpPr>
        <p:spPr>
          <a:xfrm>
            <a:off x="548640" y="5623560"/>
            <a:ext cx="5212080" cy="822960"/>
          </a:xfrm>
          <a:prstGeom prst="rect">
            <a:avLst/>
          </a:prstGeom>
          <a:noFill/>
          <a:ln/>
        </p:spPr>
        <p:txBody>
          <a:bodyPr wrap="square" lIns="0" tIns="0" rIns="0" bIns="0" rtlCol="0" anchor="ctr"/>
          <a:lstStyle/>
          <a:p>
            <a:pPr indent="0" marL="0">
              <a:buNone/>
            </a:pPr>
            <a:r>
              <a:rPr lang="en-US" sz="1250" b="1" dirty="0">
                <a:solidFill>
                  <a:srgbClr val="F0A04B"/>
                </a:solidFill>
                <a:latin typeface="Calibri" pitchFamily="34" charset="0"/>
                <a:ea typeface="Calibri" pitchFamily="34" charset="-122"/>
                <a:cs typeface="Calibri" pitchFamily="34" charset="-120"/>
              </a:rPr>
              <a:t>Honest note:  </a:t>
            </a:r>
            <a:pPr indent="0" marL="0">
              <a:buNone/>
            </a:pPr>
            <a:r>
              <a:rPr lang="en-US" sz="1250" i="1" dirty="0">
                <a:solidFill>
                  <a:srgbClr val="9AA0BD"/>
                </a:solidFill>
                <a:latin typeface="Calibri" pitchFamily="34" charset="0"/>
                <a:ea typeface="Calibri" pitchFamily="34" charset="-122"/>
                <a:cs typeface="Calibri" pitchFamily="34" charset="-120"/>
              </a:rPr>
              <a:t>engagement features are synthetic but literature-grounded; production would use real telemetry (see feature notes in the repo).</a:t>
            </a:r>
            <a:endParaRPr lang="en-US" sz="1250" dirty="0"/>
          </a:p>
        </p:txBody>
      </p:sp>
      <p:sp>
        <p:nvSpPr>
          <p:cNvPr id="13" name="Shape 11"/>
          <p:cNvSpPr/>
          <p:nvPr/>
        </p:nvSpPr>
        <p:spPr>
          <a:xfrm>
            <a:off x="6080760" y="1874520"/>
            <a:ext cx="5559552" cy="4297680"/>
          </a:xfrm>
          <a:prstGeom prst="roundRect">
            <a:avLst>
              <a:gd name="adj" fmla="val 2553"/>
            </a:avLst>
          </a:prstGeom>
          <a:solidFill>
            <a:srgbClr val="FFFFFF"/>
          </a:solidFill>
          <a:ln w="12700">
            <a:solidFill>
              <a:srgbClr val="2E3450"/>
            </a:solidFill>
            <a:prstDash val="solid"/>
          </a:ln>
        </p:spPr>
      </p:sp>
      <p:pic>
        <p:nvPicPr>
          <p:cNvPr id="14" name="Image 0" descr="outputs/eda/engagement_by_churn.png">    </p:cNvPr>
          <p:cNvPicPr>
            <a:picLocks noChangeAspect="1"/>
          </p:cNvPicPr>
          <p:nvPr/>
        </p:nvPicPr>
        <p:blipFill>
          <a:blip r:embed="rId1"/>
          <a:stretch>
            <a:fillRect/>
          </a:stretch>
        </p:blipFill>
        <p:spPr>
          <a:xfrm>
            <a:off x="6263640" y="2168434"/>
            <a:ext cx="5193792" cy="370985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220"/>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300" b="1" spc="200" kern="0" dirty="0">
                <a:solidFill>
                  <a:srgbClr val="6C8CFF"/>
                </a:solidFill>
                <a:latin typeface="Calibri" pitchFamily="34" charset="0"/>
                <a:ea typeface="Calibri" pitchFamily="34" charset="-122"/>
                <a:cs typeface="Calibri" pitchFamily="34" charset="-120"/>
              </a:rPr>
              <a:t>MODELING &amp; RESULTS</a:t>
            </a:r>
            <a:endParaRPr lang="en-US" sz="13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indent="0" marL="0">
              <a:buNone/>
            </a:pPr>
            <a:r>
              <a:rPr lang="en-US" sz="3000" b="1" dirty="0">
                <a:solidFill>
                  <a:srgbClr val="FFFFFF"/>
                </a:solidFill>
                <a:latin typeface="Bookman Old Style" pitchFamily="34" charset="0"/>
                <a:ea typeface="Bookman Old Style" pitchFamily="34" charset="-122"/>
                <a:cs typeface="Bookman Old Style" pitchFamily="34" charset="-120"/>
              </a:rPr>
              <a:t>Meets the targets: AUC ≈ 0.93, churner recall ≈ 0.84</a:t>
            </a:r>
            <a:endParaRPr lang="en-US" sz="3000" dirty="0"/>
          </a:p>
        </p:txBody>
      </p:sp>
      <p:sp>
        <p:nvSpPr>
          <p:cNvPr id="4" name="Shape 2"/>
          <p:cNvSpPr/>
          <p:nvPr/>
        </p:nvSpPr>
        <p:spPr>
          <a:xfrm>
            <a:off x="548640" y="1874520"/>
            <a:ext cx="4754880" cy="512064"/>
          </a:xfrm>
          <a:prstGeom prst="roundRect">
            <a:avLst>
              <a:gd name="adj" fmla="val 10714"/>
            </a:avLst>
          </a:prstGeom>
          <a:solidFill>
            <a:srgbClr val="6C8CFF">
              <a:alpha val="80000"/>
            </a:srgbClr>
          </a:solidFill>
          <a:ln w="12700">
            <a:solidFill>
              <a:srgbClr val="2E3450"/>
            </a:solidFill>
            <a:prstDash val="solid"/>
          </a:ln>
        </p:spPr>
      </p:sp>
      <p:sp>
        <p:nvSpPr>
          <p:cNvPr id="5" name="Text 3"/>
          <p:cNvSpPr/>
          <p:nvPr/>
        </p:nvSpPr>
        <p:spPr>
          <a:xfrm>
            <a:off x="685800" y="1874520"/>
            <a:ext cx="2011680" cy="512064"/>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Model</a:t>
            </a:r>
            <a:endParaRPr lang="en-US" sz="1300" dirty="0"/>
          </a:p>
        </p:txBody>
      </p:sp>
      <p:sp>
        <p:nvSpPr>
          <p:cNvPr id="6" name="Text 4"/>
          <p:cNvSpPr/>
          <p:nvPr/>
        </p:nvSpPr>
        <p:spPr>
          <a:xfrm>
            <a:off x="2697480" y="1874520"/>
            <a:ext cx="914400" cy="512064"/>
          </a:xfrm>
          <a:prstGeom prst="rect">
            <a:avLst/>
          </a:prstGeom>
          <a:noFill/>
          <a:ln/>
        </p:spPr>
        <p:txBody>
          <a:bodyPr wrap="square" lIns="0" tIns="0" rIns="0" bIns="0" rtlCol="0" anchor="ctr"/>
          <a:lstStyle/>
          <a:p>
            <a:pPr algn="ctr" indent="0" marL="0">
              <a:buNone/>
            </a:pPr>
            <a:r>
              <a:rPr lang="en-US" sz="1300" b="1" dirty="0">
                <a:solidFill>
                  <a:srgbClr val="FFFFFF"/>
                </a:solidFill>
                <a:latin typeface="Bookman Old Style" pitchFamily="34" charset="0"/>
                <a:ea typeface="Bookman Old Style" pitchFamily="34" charset="-122"/>
                <a:cs typeface="Bookman Old Style" pitchFamily="34" charset="-120"/>
              </a:rPr>
              <a:t>F2</a:t>
            </a:r>
            <a:endParaRPr lang="en-US" sz="1300" dirty="0"/>
          </a:p>
        </p:txBody>
      </p:sp>
      <p:sp>
        <p:nvSpPr>
          <p:cNvPr id="7" name="Text 5"/>
          <p:cNvSpPr/>
          <p:nvPr/>
        </p:nvSpPr>
        <p:spPr>
          <a:xfrm>
            <a:off x="3611880" y="1874520"/>
            <a:ext cx="822960" cy="512064"/>
          </a:xfrm>
          <a:prstGeom prst="rect">
            <a:avLst/>
          </a:prstGeom>
          <a:noFill/>
          <a:ln/>
        </p:spPr>
        <p:txBody>
          <a:bodyPr wrap="square" lIns="0" tIns="0" rIns="0" bIns="0" rtlCol="0" anchor="ctr"/>
          <a:lstStyle/>
          <a:p>
            <a:pPr algn="ctr" indent="0" marL="0">
              <a:buNone/>
            </a:pPr>
            <a:r>
              <a:rPr lang="en-US" sz="1300" b="1" dirty="0">
                <a:solidFill>
                  <a:srgbClr val="FFFFFF"/>
                </a:solidFill>
                <a:latin typeface="Bookman Old Style" pitchFamily="34" charset="0"/>
                <a:ea typeface="Bookman Old Style" pitchFamily="34" charset="-122"/>
                <a:cs typeface="Bookman Old Style" pitchFamily="34" charset="-120"/>
              </a:rPr>
              <a:t>AUC</a:t>
            </a:r>
            <a:endParaRPr lang="en-US" sz="1300" dirty="0"/>
          </a:p>
        </p:txBody>
      </p:sp>
      <p:sp>
        <p:nvSpPr>
          <p:cNvPr id="8" name="Text 6"/>
          <p:cNvSpPr/>
          <p:nvPr/>
        </p:nvSpPr>
        <p:spPr>
          <a:xfrm>
            <a:off x="4434840" y="1874520"/>
            <a:ext cx="1005840" cy="512064"/>
          </a:xfrm>
          <a:prstGeom prst="rect">
            <a:avLst/>
          </a:prstGeom>
          <a:noFill/>
          <a:ln/>
        </p:spPr>
        <p:txBody>
          <a:bodyPr wrap="square" lIns="0" tIns="0" rIns="0" bIns="0" rtlCol="0" anchor="ctr"/>
          <a:lstStyle/>
          <a:p>
            <a:pPr algn="ctr" indent="0" marL="0">
              <a:buNone/>
            </a:pPr>
            <a:r>
              <a:rPr lang="en-US" sz="1300" b="1" dirty="0">
                <a:solidFill>
                  <a:srgbClr val="FFFFFF"/>
                </a:solidFill>
                <a:latin typeface="Bookman Old Style" pitchFamily="34" charset="0"/>
                <a:ea typeface="Bookman Old Style" pitchFamily="34" charset="-122"/>
                <a:cs typeface="Bookman Old Style" pitchFamily="34" charset="-120"/>
              </a:rPr>
              <a:t>Recall</a:t>
            </a:r>
            <a:endParaRPr lang="en-US" sz="1300" dirty="0"/>
          </a:p>
        </p:txBody>
      </p:sp>
      <p:sp>
        <p:nvSpPr>
          <p:cNvPr id="9" name="Shape 7"/>
          <p:cNvSpPr/>
          <p:nvPr/>
        </p:nvSpPr>
        <p:spPr>
          <a:xfrm>
            <a:off x="548640" y="2441448"/>
            <a:ext cx="4754880" cy="512064"/>
          </a:xfrm>
          <a:prstGeom prst="roundRect">
            <a:avLst>
              <a:gd name="adj" fmla="val 10714"/>
            </a:avLst>
          </a:prstGeom>
          <a:solidFill>
            <a:srgbClr val="232840"/>
          </a:solidFill>
          <a:ln w="12700">
            <a:solidFill>
              <a:srgbClr val="2E3450"/>
            </a:solidFill>
            <a:prstDash val="solid"/>
          </a:ln>
        </p:spPr>
      </p:sp>
      <p:sp>
        <p:nvSpPr>
          <p:cNvPr id="10" name="Text 8"/>
          <p:cNvSpPr/>
          <p:nvPr/>
        </p:nvSpPr>
        <p:spPr>
          <a:xfrm>
            <a:off x="685800" y="2441448"/>
            <a:ext cx="2011680" cy="512064"/>
          </a:xfrm>
          <a:prstGeom prst="rect">
            <a:avLst/>
          </a:prstGeom>
          <a:noFill/>
          <a:ln/>
        </p:spPr>
        <p:txBody>
          <a:bodyPr wrap="square" lIns="0" tIns="0" rIns="0" bIns="0" rtlCol="0" anchor="ctr"/>
          <a:lstStyle/>
          <a:p>
            <a:pPr algn="l" indent="0" marL="0">
              <a:buNone/>
            </a:pPr>
            <a:r>
              <a:rPr lang="en-US" sz="1400" dirty="0">
                <a:solidFill>
                  <a:srgbClr val="D8DCEF"/>
                </a:solidFill>
                <a:latin typeface="Calibri" pitchFamily="34" charset="0"/>
                <a:ea typeface="Calibri" pitchFamily="34" charset="-122"/>
                <a:cs typeface="Calibri" pitchFamily="34" charset="-120"/>
              </a:rPr>
              <a:t>Logistic Reg.</a:t>
            </a:r>
            <a:endParaRPr lang="en-US" sz="1400" dirty="0"/>
          </a:p>
        </p:txBody>
      </p:sp>
      <p:sp>
        <p:nvSpPr>
          <p:cNvPr id="11" name="Text 9"/>
          <p:cNvSpPr/>
          <p:nvPr/>
        </p:nvSpPr>
        <p:spPr>
          <a:xfrm>
            <a:off x="2697480" y="2441448"/>
            <a:ext cx="914400" cy="512064"/>
          </a:xfrm>
          <a:prstGeom prst="rect">
            <a:avLst/>
          </a:prstGeom>
          <a:noFill/>
          <a:ln/>
        </p:spPr>
        <p:txBody>
          <a:bodyPr wrap="square" lIns="0" tIns="0" rIns="0" bIns="0" rtlCol="0" anchor="ctr"/>
          <a:lstStyle/>
          <a:p>
            <a:pPr algn="ctr" indent="0" marL="0">
              <a:buNone/>
            </a:pPr>
            <a:r>
              <a:rPr lang="en-US" sz="1400" dirty="0">
                <a:solidFill>
                  <a:srgbClr val="D8DCEF"/>
                </a:solidFill>
                <a:latin typeface="Bookman Old Style" pitchFamily="34" charset="0"/>
                <a:ea typeface="Bookman Old Style" pitchFamily="34" charset="-122"/>
                <a:cs typeface="Bookman Old Style" pitchFamily="34" charset="-120"/>
              </a:rPr>
              <a:t>0.56</a:t>
            </a:r>
            <a:endParaRPr lang="en-US" sz="1400" dirty="0"/>
          </a:p>
        </p:txBody>
      </p:sp>
      <p:sp>
        <p:nvSpPr>
          <p:cNvPr id="12" name="Text 10"/>
          <p:cNvSpPr/>
          <p:nvPr/>
        </p:nvSpPr>
        <p:spPr>
          <a:xfrm>
            <a:off x="3611880" y="2441448"/>
            <a:ext cx="822960" cy="512064"/>
          </a:xfrm>
          <a:prstGeom prst="rect">
            <a:avLst/>
          </a:prstGeom>
          <a:noFill/>
          <a:ln/>
        </p:spPr>
        <p:txBody>
          <a:bodyPr wrap="square" lIns="0" tIns="0" rIns="0" bIns="0" rtlCol="0" anchor="ctr"/>
          <a:lstStyle/>
          <a:p>
            <a:pPr algn="ctr" indent="0" marL="0">
              <a:buNone/>
            </a:pPr>
            <a:r>
              <a:rPr lang="en-US" sz="1400" dirty="0">
                <a:solidFill>
                  <a:srgbClr val="D8DCEF"/>
                </a:solidFill>
                <a:latin typeface="Bookman Old Style" pitchFamily="34" charset="0"/>
                <a:ea typeface="Bookman Old Style" pitchFamily="34" charset="-122"/>
                <a:cs typeface="Bookman Old Style" pitchFamily="34" charset="-120"/>
              </a:rPr>
              <a:t>0.94</a:t>
            </a:r>
            <a:endParaRPr lang="en-US" sz="1400" dirty="0"/>
          </a:p>
        </p:txBody>
      </p:sp>
      <p:sp>
        <p:nvSpPr>
          <p:cNvPr id="13" name="Text 11"/>
          <p:cNvSpPr/>
          <p:nvPr/>
        </p:nvSpPr>
        <p:spPr>
          <a:xfrm>
            <a:off x="4434840" y="2441448"/>
            <a:ext cx="1005840" cy="512064"/>
          </a:xfrm>
          <a:prstGeom prst="rect">
            <a:avLst/>
          </a:prstGeom>
          <a:noFill/>
          <a:ln/>
        </p:spPr>
        <p:txBody>
          <a:bodyPr wrap="square" lIns="0" tIns="0" rIns="0" bIns="0" rtlCol="0" anchor="ctr"/>
          <a:lstStyle/>
          <a:p>
            <a:pPr algn="ctr" indent="0" marL="0">
              <a:buNone/>
            </a:pPr>
            <a:r>
              <a:rPr lang="en-US" sz="1400" dirty="0">
                <a:solidFill>
                  <a:srgbClr val="D8DCEF"/>
                </a:solidFill>
                <a:latin typeface="Bookman Old Style" pitchFamily="34" charset="0"/>
                <a:ea typeface="Bookman Old Style" pitchFamily="34" charset="-122"/>
                <a:cs typeface="Bookman Old Style" pitchFamily="34" charset="-120"/>
              </a:rPr>
              <a:t>0.87</a:t>
            </a:r>
            <a:endParaRPr lang="en-US" sz="1400" dirty="0"/>
          </a:p>
        </p:txBody>
      </p:sp>
      <p:sp>
        <p:nvSpPr>
          <p:cNvPr id="14" name="Shape 12"/>
          <p:cNvSpPr/>
          <p:nvPr/>
        </p:nvSpPr>
        <p:spPr>
          <a:xfrm>
            <a:off x="548640" y="3008376"/>
            <a:ext cx="4754880" cy="512064"/>
          </a:xfrm>
          <a:prstGeom prst="roundRect">
            <a:avLst>
              <a:gd name="adj" fmla="val 10714"/>
            </a:avLst>
          </a:prstGeom>
          <a:solidFill>
            <a:srgbClr val="1A1E30"/>
          </a:solidFill>
          <a:ln w="19050">
            <a:solidFill>
              <a:srgbClr val="6C8CFF"/>
            </a:solidFill>
            <a:prstDash val="solid"/>
          </a:ln>
        </p:spPr>
      </p:sp>
      <p:sp>
        <p:nvSpPr>
          <p:cNvPr id="15" name="Text 13"/>
          <p:cNvSpPr/>
          <p:nvPr/>
        </p:nvSpPr>
        <p:spPr>
          <a:xfrm>
            <a:off x="685800" y="3008376"/>
            <a:ext cx="2011680" cy="512064"/>
          </a:xfrm>
          <a:prstGeom prst="rect">
            <a:avLst/>
          </a:prstGeom>
          <a:noFill/>
          <a:ln/>
        </p:spPr>
        <p:txBody>
          <a:bodyPr wrap="square" lIns="0" tIns="0" rIns="0" bIns="0" rtlCol="0" anchor="ctr"/>
          <a:lstStyle/>
          <a:p>
            <a:pPr algn="l" indent="0" marL="0">
              <a:buNone/>
            </a:pPr>
            <a:r>
              <a:rPr lang="en-US" sz="1400" b="1" dirty="0">
                <a:solidFill>
                  <a:srgbClr val="6C8CFF"/>
                </a:solidFill>
                <a:latin typeface="Calibri" pitchFamily="34" charset="0"/>
                <a:ea typeface="Calibri" pitchFamily="34" charset="-122"/>
                <a:cs typeface="Calibri" pitchFamily="34" charset="-120"/>
              </a:rPr>
              <a:t>Random Forest ★</a:t>
            </a:r>
            <a:endParaRPr lang="en-US" sz="1400" dirty="0"/>
          </a:p>
        </p:txBody>
      </p:sp>
      <p:sp>
        <p:nvSpPr>
          <p:cNvPr id="16" name="Text 14"/>
          <p:cNvSpPr/>
          <p:nvPr/>
        </p:nvSpPr>
        <p:spPr>
          <a:xfrm>
            <a:off x="2697480" y="3008376"/>
            <a:ext cx="914400" cy="512064"/>
          </a:xfrm>
          <a:prstGeom prst="rect">
            <a:avLst/>
          </a:prstGeom>
          <a:noFill/>
          <a:ln/>
        </p:spPr>
        <p:txBody>
          <a:bodyPr wrap="square" lIns="0" tIns="0" rIns="0" bIns="0" rtlCol="0" anchor="ctr"/>
          <a:lstStyle/>
          <a:p>
            <a:pPr algn="ctr" indent="0" marL="0">
              <a:buNone/>
            </a:pPr>
            <a:r>
              <a:rPr lang="en-US" sz="1400" b="1" dirty="0">
                <a:solidFill>
                  <a:srgbClr val="6C8CFF"/>
                </a:solidFill>
                <a:latin typeface="Bookman Old Style" pitchFamily="34" charset="0"/>
                <a:ea typeface="Bookman Old Style" pitchFamily="34" charset="-122"/>
                <a:cs typeface="Bookman Old Style" pitchFamily="34" charset="-120"/>
              </a:rPr>
              <a:t>0.58</a:t>
            </a:r>
            <a:endParaRPr lang="en-US" sz="1400" dirty="0"/>
          </a:p>
        </p:txBody>
      </p:sp>
      <p:sp>
        <p:nvSpPr>
          <p:cNvPr id="17" name="Text 15"/>
          <p:cNvSpPr/>
          <p:nvPr/>
        </p:nvSpPr>
        <p:spPr>
          <a:xfrm>
            <a:off x="3611880" y="3008376"/>
            <a:ext cx="822960" cy="512064"/>
          </a:xfrm>
          <a:prstGeom prst="rect">
            <a:avLst/>
          </a:prstGeom>
          <a:noFill/>
          <a:ln/>
        </p:spPr>
        <p:txBody>
          <a:bodyPr wrap="square" lIns="0" tIns="0" rIns="0" bIns="0" rtlCol="0" anchor="ctr"/>
          <a:lstStyle/>
          <a:p>
            <a:pPr algn="ctr" indent="0" marL="0">
              <a:buNone/>
            </a:pPr>
            <a:r>
              <a:rPr lang="en-US" sz="1400" b="1" dirty="0">
                <a:solidFill>
                  <a:srgbClr val="6C8CFF"/>
                </a:solidFill>
                <a:latin typeface="Bookman Old Style" pitchFamily="34" charset="0"/>
                <a:ea typeface="Bookman Old Style" pitchFamily="34" charset="-122"/>
                <a:cs typeface="Bookman Old Style" pitchFamily="34" charset="-120"/>
              </a:rPr>
              <a:t>0.93</a:t>
            </a:r>
            <a:endParaRPr lang="en-US" sz="1400" dirty="0"/>
          </a:p>
        </p:txBody>
      </p:sp>
      <p:sp>
        <p:nvSpPr>
          <p:cNvPr id="18" name="Text 16"/>
          <p:cNvSpPr/>
          <p:nvPr/>
        </p:nvSpPr>
        <p:spPr>
          <a:xfrm>
            <a:off x="4434840" y="3008376"/>
            <a:ext cx="1005840" cy="512064"/>
          </a:xfrm>
          <a:prstGeom prst="rect">
            <a:avLst/>
          </a:prstGeom>
          <a:noFill/>
          <a:ln/>
        </p:spPr>
        <p:txBody>
          <a:bodyPr wrap="square" lIns="0" tIns="0" rIns="0" bIns="0" rtlCol="0" anchor="ctr"/>
          <a:lstStyle/>
          <a:p>
            <a:pPr algn="ctr" indent="0" marL="0">
              <a:buNone/>
            </a:pPr>
            <a:r>
              <a:rPr lang="en-US" sz="1400" b="1" dirty="0">
                <a:solidFill>
                  <a:srgbClr val="6C8CFF"/>
                </a:solidFill>
                <a:latin typeface="Bookman Old Style" pitchFamily="34" charset="0"/>
                <a:ea typeface="Bookman Old Style" pitchFamily="34" charset="-122"/>
                <a:cs typeface="Bookman Old Style" pitchFamily="34" charset="-120"/>
              </a:rPr>
              <a:t>0.84</a:t>
            </a:r>
            <a:endParaRPr lang="en-US" sz="1400" dirty="0"/>
          </a:p>
        </p:txBody>
      </p:sp>
      <p:sp>
        <p:nvSpPr>
          <p:cNvPr id="19" name="Shape 17"/>
          <p:cNvSpPr/>
          <p:nvPr/>
        </p:nvSpPr>
        <p:spPr>
          <a:xfrm>
            <a:off x="548640" y="3575304"/>
            <a:ext cx="4754880" cy="512064"/>
          </a:xfrm>
          <a:prstGeom prst="roundRect">
            <a:avLst>
              <a:gd name="adj" fmla="val 10714"/>
            </a:avLst>
          </a:prstGeom>
          <a:solidFill>
            <a:srgbClr val="232840"/>
          </a:solidFill>
          <a:ln w="12700">
            <a:solidFill>
              <a:srgbClr val="2E3450"/>
            </a:solidFill>
            <a:prstDash val="solid"/>
          </a:ln>
        </p:spPr>
      </p:sp>
      <p:sp>
        <p:nvSpPr>
          <p:cNvPr id="20" name="Text 18"/>
          <p:cNvSpPr/>
          <p:nvPr/>
        </p:nvSpPr>
        <p:spPr>
          <a:xfrm>
            <a:off x="685800" y="3575304"/>
            <a:ext cx="2011680" cy="512064"/>
          </a:xfrm>
          <a:prstGeom prst="rect">
            <a:avLst/>
          </a:prstGeom>
          <a:noFill/>
          <a:ln/>
        </p:spPr>
        <p:txBody>
          <a:bodyPr wrap="square" lIns="0" tIns="0" rIns="0" bIns="0" rtlCol="0" anchor="ctr"/>
          <a:lstStyle/>
          <a:p>
            <a:pPr algn="l" indent="0" marL="0">
              <a:buNone/>
            </a:pPr>
            <a:r>
              <a:rPr lang="en-US" sz="1400" dirty="0">
                <a:solidFill>
                  <a:srgbClr val="D8DCEF"/>
                </a:solidFill>
                <a:latin typeface="Calibri" pitchFamily="34" charset="0"/>
                <a:ea typeface="Calibri" pitchFamily="34" charset="-122"/>
                <a:cs typeface="Calibri" pitchFamily="34" charset="-120"/>
              </a:rPr>
              <a:t>XGBoost</a:t>
            </a:r>
            <a:endParaRPr lang="en-US" sz="1400" dirty="0"/>
          </a:p>
        </p:txBody>
      </p:sp>
      <p:sp>
        <p:nvSpPr>
          <p:cNvPr id="21" name="Text 19"/>
          <p:cNvSpPr/>
          <p:nvPr/>
        </p:nvSpPr>
        <p:spPr>
          <a:xfrm>
            <a:off x="2697480" y="3575304"/>
            <a:ext cx="914400" cy="512064"/>
          </a:xfrm>
          <a:prstGeom prst="rect">
            <a:avLst/>
          </a:prstGeom>
          <a:noFill/>
          <a:ln/>
        </p:spPr>
        <p:txBody>
          <a:bodyPr wrap="square" lIns="0" tIns="0" rIns="0" bIns="0" rtlCol="0" anchor="ctr"/>
          <a:lstStyle/>
          <a:p>
            <a:pPr algn="ctr" indent="0" marL="0">
              <a:buNone/>
            </a:pPr>
            <a:r>
              <a:rPr lang="en-US" sz="1400" dirty="0">
                <a:solidFill>
                  <a:srgbClr val="D8DCEF"/>
                </a:solidFill>
                <a:latin typeface="Bookman Old Style" pitchFamily="34" charset="0"/>
                <a:ea typeface="Bookman Old Style" pitchFamily="34" charset="-122"/>
                <a:cs typeface="Bookman Old Style" pitchFamily="34" charset="-120"/>
              </a:rPr>
              <a:t>0.53</a:t>
            </a:r>
            <a:endParaRPr lang="en-US" sz="1400" dirty="0"/>
          </a:p>
        </p:txBody>
      </p:sp>
      <p:sp>
        <p:nvSpPr>
          <p:cNvPr id="22" name="Text 20"/>
          <p:cNvSpPr/>
          <p:nvPr/>
        </p:nvSpPr>
        <p:spPr>
          <a:xfrm>
            <a:off x="3611880" y="3575304"/>
            <a:ext cx="822960" cy="512064"/>
          </a:xfrm>
          <a:prstGeom prst="rect">
            <a:avLst/>
          </a:prstGeom>
          <a:noFill/>
          <a:ln/>
        </p:spPr>
        <p:txBody>
          <a:bodyPr wrap="square" lIns="0" tIns="0" rIns="0" bIns="0" rtlCol="0" anchor="ctr"/>
          <a:lstStyle/>
          <a:p>
            <a:pPr algn="ctr" indent="0" marL="0">
              <a:buNone/>
            </a:pPr>
            <a:r>
              <a:rPr lang="en-US" sz="1400" dirty="0">
                <a:solidFill>
                  <a:srgbClr val="D8DCEF"/>
                </a:solidFill>
                <a:latin typeface="Bookman Old Style" pitchFamily="34" charset="0"/>
                <a:ea typeface="Bookman Old Style" pitchFamily="34" charset="-122"/>
                <a:cs typeface="Bookman Old Style" pitchFamily="34" charset="-120"/>
              </a:rPr>
              <a:t>0.93</a:t>
            </a:r>
            <a:endParaRPr lang="en-US" sz="1400" dirty="0"/>
          </a:p>
        </p:txBody>
      </p:sp>
      <p:sp>
        <p:nvSpPr>
          <p:cNvPr id="23" name="Text 21"/>
          <p:cNvSpPr/>
          <p:nvPr/>
        </p:nvSpPr>
        <p:spPr>
          <a:xfrm>
            <a:off x="4434840" y="3575304"/>
            <a:ext cx="1005840" cy="512064"/>
          </a:xfrm>
          <a:prstGeom prst="rect">
            <a:avLst/>
          </a:prstGeom>
          <a:noFill/>
          <a:ln/>
        </p:spPr>
        <p:txBody>
          <a:bodyPr wrap="square" lIns="0" tIns="0" rIns="0" bIns="0" rtlCol="0" anchor="ctr"/>
          <a:lstStyle/>
          <a:p>
            <a:pPr algn="ctr" indent="0" marL="0">
              <a:buNone/>
            </a:pPr>
            <a:r>
              <a:rPr lang="en-US" sz="1400" dirty="0">
                <a:solidFill>
                  <a:srgbClr val="D8DCEF"/>
                </a:solidFill>
                <a:latin typeface="Bookman Old Style" pitchFamily="34" charset="0"/>
                <a:ea typeface="Bookman Old Style" pitchFamily="34" charset="-122"/>
                <a:cs typeface="Bookman Old Style" pitchFamily="34" charset="-120"/>
              </a:rPr>
              <a:t>0.78</a:t>
            </a:r>
            <a:endParaRPr lang="en-US" sz="1400" dirty="0"/>
          </a:p>
        </p:txBody>
      </p:sp>
      <p:sp>
        <p:nvSpPr>
          <p:cNvPr id="24" name="Text 22"/>
          <p:cNvSpPr/>
          <p:nvPr/>
        </p:nvSpPr>
        <p:spPr>
          <a:xfrm>
            <a:off x="548640" y="4279392"/>
            <a:ext cx="4754880" cy="1097280"/>
          </a:xfrm>
          <a:prstGeom prst="rect">
            <a:avLst/>
          </a:prstGeom>
          <a:noFill/>
          <a:ln/>
        </p:spPr>
        <p:txBody>
          <a:bodyPr wrap="square" lIns="0" tIns="0" rIns="0" bIns="0" rtlCol="0" anchor="ctr"/>
          <a:lstStyle/>
          <a:p>
            <a:pPr indent="0" marL="0">
              <a:buNone/>
            </a:pPr>
            <a:r>
              <a:rPr lang="en-US" sz="1250" dirty="0">
                <a:solidFill>
                  <a:srgbClr val="D8DCEF"/>
                </a:solidFill>
                <a:latin typeface="Calibri" pitchFamily="34" charset="0"/>
                <a:ea typeface="Calibri" pitchFamily="34" charset="-122"/>
                <a:cs typeface="Calibri" pitchFamily="34" charset="-120"/>
              </a:rPr>
              <a:t>F2 is the primary metric (recall-weighted). </a:t>
            </a:r>
            <a:pPr indent="0" marL="0">
              <a:buNone/>
            </a:pPr>
            <a:r>
              <a:rPr lang="en-US" sz="1250" i="1" dirty="0">
                <a:solidFill>
                  <a:srgbClr val="9AA0BD"/>
                </a:solidFill>
                <a:latin typeface="Calibri" pitchFamily="34" charset="0"/>
                <a:ea typeface="Calibri" pitchFamily="34" charset="-122"/>
                <a:cs typeface="Calibri" pitchFamily="34" charset="-120"/>
              </a:rPr>
              <a:t>Low precision (~0.26) is expected at a 5% base rate with a recall-first threshold.</a:t>
            </a:r>
            <a:endParaRPr lang="en-US" sz="1250" dirty="0"/>
          </a:p>
        </p:txBody>
      </p:sp>
      <p:sp>
        <p:nvSpPr>
          <p:cNvPr id="25" name="Shape 23"/>
          <p:cNvSpPr/>
          <p:nvPr/>
        </p:nvSpPr>
        <p:spPr>
          <a:xfrm>
            <a:off x="5532120" y="1828800"/>
            <a:ext cx="3017520" cy="4343400"/>
          </a:xfrm>
          <a:prstGeom prst="roundRect">
            <a:avLst>
              <a:gd name="adj" fmla="val 3636"/>
            </a:avLst>
          </a:prstGeom>
          <a:solidFill>
            <a:srgbClr val="FFFFFF"/>
          </a:solidFill>
          <a:ln w="12700">
            <a:solidFill>
              <a:srgbClr val="2E3450"/>
            </a:solidFill>
            <a:prstDash val="solid"/>
          </a:ln>
        </p:spPr>
      </p:sp>
      <p:pic>
        <p:nvPicPr>
          <p:cNvPr id="26" name="Image 0" descr="outputs/figures/pr_curves.png">    </p:cNvPr>
          <p:cNvPicPr>
            <a:picLocks noChangeAspect="1"/>
          </p:cNvPicPr>
          <p:nvPr/>
        </p:nvPicPr>
        <p:blipFill>
          <a:blip r:embed="rId1"/>
          <a:stretch>
            <a:fillRect/>
          </a:stretch>
        </p:blipFill>
        <p:spPr>
          <a:xfrm>
            <a:off x="5669280" y="3020786"/>
            <a:ext cx="2743200" cy="1959429"/>
          </a:xfrm>
          <a:prstGeom prst="rect">
            <a:avLst/>
          </a:prstGeom>
        </p:spPr>
      </p:pic>
      <p:sp>
        <p:nvSpPr>
          <p:cNvPr id="27" name="Shape 24"/>
          <p:cNvSpPr/>
          <p:nvPr/>
        </p:nvSpPr>
        <p:spPr>
          <a:xfrm>
            <a:off x="8641080" y="1828800"/>
            <a:ext cx="2999232" cy="4343400"/>
          </a:xfrm>
          <a:prstGeom prst="roundRect">
            <a:avLst>
              <a:gd name="adj" fmla="val 3659"/>
            </a:avLst>
          </a:prstGeom>
          <a:solidFill>
            <a:srgbClr val="FFFFFF"/>
          </a:solidFill>
          <a:ln w="12700">
            <a:solidFill>
              <a:srgbClr val="2E3450"/>
            </a:solidFill>
            <a:prstDash val="solid"/>
          </a:ln>
        </p:spPr>
      </p:sp>
      <p:pic>
        <p:nvPicPr>
          <p:cNvPr id="28" name="Image 1" descr="outputs/figures/confusion_matrix.png">    </p:cNvPr>
          <p:cNvPicPr>
            <a:picLocks noChangeAspect="1"/>
          </p:cNvPicPr>
          <p:nvPr/>
        </p:nvPicPr>
        <p:blipFill>
          <a:blip r:embed="rId2"/>
          <a:stretch>
            <a:fillRect/>
          </a:stretch>
        </p:blipFill>
        <p:spPr>
          <a:xfrm>
            <a:off x="8778240" y="3027317"/>
            <a:ext cx="2724912" cy="194636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220"/>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300" b="1" spc="200" kern="0" dirty="0">
                <a:solidFill>
                  <a:srgbClr val="6C8CFF"/>
                </a:solidFill>
                <a:latin typeface="Calibri" pitchFamily="34" charset="0"/>
                <a:ea typeface="Calibri" pitchFamily="34" charset="-122"/>
                <a:cs typeface="Calibri" pitchFamily="34" charset="-120"/>
              </a:rPr>
              <a:t>INTERPRETABILITY</a:t>
            </a:r>
            <a:endParaRPr lang="en-US" sz="13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indent="0" marL="0">
              <a:buNone/>
            </a:pPr>
            <a:r>
              <a:rPr lang="en-US" sz="3000" b="1" dirty="0">
                <a:solidFill>
                  <a:srgbClr val="FFFFFF"/>
                </a:solidFill>
                <a:latin typeface="Bookman Old Style" pitchFamily="34" charset="0"/>
                <a:ea typeface="Bookman Old Style" pitchFamily="34" charset="-122"/>
                <a:cs typeface="Bookman Old Style" pitchFamily="34" charset="-120"/>
              </a:rPr>
              <a:t>SHAP tells the team why a customer is at risk</a:t>
            </a:r>
            <a:endParaRPr lang="en-US" sz="3000" dirty="0"/>
          </a:p>
        </p:txBody>
      </p:sp>
      <p:sp>
        <p:nvSpPr>
          <p:cNvPr id="4" name="Shape 2"/>
          <p:cNvSpPr/>
          <p:nvPr/>
        </p:nvSpPr>
        <p:spPr>
          <a:xfrm>
            <a:off x="548640" y="1874520"/>
            <a:ext cx="5943600" cy="4297680"/>
          </a:xfrm>
          <a:prstGeom prst="roundRect">
            <a:avLst>
              <a:gd name="adj" fmla="val 2553"/>
            </a:avLst>
          </a:prstGeom>
          <a:solidFill>
            <a:srgbClr val="FFFFFF"/>
          </a:solidFill>
          <a:ln w="12700">
            <a:solidFill>
              <a:srgbClr val="2E3450"/>
            </a:solidFill>
            <a:prstDash val="solid"/>
          </a:ln>
        </p:spPr>
      </p:sp>
      <p:pic>
        <p:nvPicPr>
          <p:cNvPr id="5" name="Image 0" descr="outputs/figures/shap_summary.png">    </p:cNvPr>
          <p:cNvPicPr>
            <a:picLocks noChangeAspect="1"/>
          </p:cNvPicPr>
          <p:nvPr/>
        </p:nvPicPr>
        <p:blipFill>
          <a:blip r:embed="rId1"/>
          <a:stretch>
            <a:fillRect/>
          </a:stretch>
        </p:blipFill>
        <p:spPr>
          <a:xfrm>
            <a:off x="704088" y="2011680"/>
            <a:ext cx="5632704" cy="4023360"/>
          </a:xfrm>
          <a:prstGeom prst="rect">
            <a:avLst/>
          </a:prstGeom>
        </p:spPr>
      </p:pic>
      <p:sp>
        <p:nvSpPr>
          <p:cNvPr id="6" name="Shape 3"/>
          <p:cNvSpPr/>
          <p:nvPr/>
        </p:nvSpPr>
        <p:spPr>
          <a:xfrm>
            <a:off x="6720840" y="2011680"/>
            <a:ext cx="4937760" cy="1234440"/>
          </a:xfrm>
          <a:prstGeom prst="roundRect">
            <a:avLst>
              <a:gd name="adj" fmla="val 8889"/>
            </a:avLst>
          </a:prstGeom>
          <a:solidFill>
            <a:srgbClr val="1A1E30"/>
          </a:solidFill>
          <a:ln w="12700">
            <a:solidFill>
              <a:srgbClr val="2E3450"/>
            </a:solidFill>
            <a:prstDash val="solid"/>
          </a:ln>
        </p:spPr>
      </p:sp>
      <p:sp>
        <p:nvSpPr>
          <p:cNvPr id="7" name="Text 4"/>
          <p:cNvSpPr/>
          <p:nvPr/>
        </p:nvSpPr>
        <p:spPr>
          <a:xfrm>
            <a:off x="6995160" y="2194560"/>
            <a:ext cx="4389120" cy="365760"/>
          </a:xfrm>
          <a:prstGeom prst="rect">
            <a:avLst/>
          </a:prstGeom>
          <a:noFill/>
          <a:ln/>
        </p:spPr>
        <p:txBody>
          <a:bodyPr wrap="square" lIns="0" tIns="0" rIns="0" bIns="0" rtlCol="0" anchor="ctr"/>
          <a:lstStyle/>
          <a:p>
            <a:pPr indent="0" marL="0">
              <a:buNone/>
            </a:pPr>
            <a:r>
              <a:rPr lang="en-US" sz="1600" b="1" dirty="0">
                <a:solidFill>
                  <a:srgbClr val="6C8CFF"/>
                </a:solidFill>
                <a:latin typeface="Bookman Old Style" pitchFamily="34" charset="0"/>
                <a:ea typeface="Bookman Old Style" pitchFamily="34" charset="-122"/>
                <a:cs typeface="Bookman Old Style" pitchFamily="34" charset="-120"/>
              </a:rPr>
              <a:t>Actionable, not a black box</a:t>
            </a:r>
            <a:endParaRPr lang="en-US" sz="1600" dirty="0"/>
          </a:p>
        </p:txBody>
      </p:sp>
      <p:sp>
        <p:nvSpPr>
          <p:cNvPr id="8" name="Text 5"/>
          <p:cNvSpPr/>
          <p:nvPr/>
        </p:nvSpPr>
        <p:spPr>
          <a:xfrm>
            <a:off x="6995160" y="2578608"/>
            <a:ext cx="4389120" cy="548640"/>
          </a:xfrm>
          <a:prstGeom prst="rect">
            <a:avLst/>
          </a:prstGeom>
          <a:noFill/>
          <a:ln/>
        </p:spPr>
        <p:txBody>
          <a:bodyPr wrap="square" lIns="0" tIns="0" rIns="0" bIns="0" rtlCol="0" anchor="ctr"/>
          <a:lstStyle/>
          <a:p>
            <a:pPr indent="0" marL="0">
              <a:buNone/>
            </a:pPr>
            <a:r>
              <a:rPr lang="en-US" sz="1300" dirty="0">
                <a:solidFill>
                  <a:srgbClr val="D8DCEF"/>
                </a:solidFill>
                <a:latin typeface="Calibri" pitchFamily="34" charset="0"/>
                <a:ea typeface="Calibri" pitchFamily="34" charset="-122"/>
                <a:cs typeface="Calibri" pitchFamily="34" charset="-120"/>
              </a:rPr>
              <a:t>Every score comes with the features that drove it.</a:t>
            </a:r>
            <a:endParaRPr lang="en-US" sz="1300" dirty="0"/>
          </a:p>
        </p:txBody>
      </p:sp>
      <p:sp>
        <p:nvSpPr>
          <p:cNvPr id="9" name="Shape 6"/>
          <p:cNvSpPr/>
          <p:nvPr/>
        </p:nvSpPr>
        <p:spPr>
          <a:xfrm>
            <a:off x="6720840" y="3383280"/>
            <a:ext cx="4937760" cy="1234440"/>
          </a:xfrm>
          <a:prstGeom prst="roundRect">
            <a:avLst>
              <a:gd name="adj" fmla="val 8889"/>
            </a:avLst>
          </a:prstGeom>
          <a:solidFill>
            <a:srgbClr val="1A1E30"/>
          </a:solidFill>
          <a:ln w="12700">
            <a:solidFill>
              <a:srgbClr val="2E3450"/>
            </a:solidFill>
            <a:prstDash val="solid"/>
          </a:ln>
        </p:spPr>
      </p:sp>
      <p:sp>
        <p:nvSpPr>
          <p:cNvPr id="10" name="Text 7"/>
          <p:cNvSpPr/>
          <p:nvPr/>
        </p:nvSpPr>
        <p:spPr>
          <a:xfrm>
            <a:off x="6995160" y="3566160"/>
            <a:ext cx="4389120" cy="365760"/>
          </a:xfrm>
          <a:prstGeom prst="rect">
            <a:avLst/>
          </a:prstGeom>
          <a:noFill/>
          <a:ln/>
        </p:spPr>
        <p:txBody>
          <a:bodyPr wrap="square" lIns="0" tIns="0" rIns="0" bIns="0" rtlCol="0" anchor="ctr"/>
          <a:lstStyle/>
          <a:p>
            <a:pPr indent="0" marL="0">
              <a:buNone/>
            </a:pPr>
            <a:r>
              <a:rPr lang="en-US" sz="1600" b="1" dirty="0">
                <a:solidFill>
                  <a:srgbClr val="6C8CFF"/>
                </a:solidFill>
                <a:latin typeface="Bookman Old Style" pitchFamily="34" charset="0"/>
                <a:ea typeface="Bookman Old Style" pitchFamily="34" charset="-122"/>
                <a:cs typeface="Bookman Old Style" pitchFamily="34" charset="-120"/>
              </a:rPr>
              <a:t>Top drivers match the domain</a:t>
            </a:r>
            <a:endParaRPr lang="en-US" sz="1600" dirty="0"/>
          </a:p>
        </p:txBody>
      </p:sp>
      <p:sp>
        <p:nvSpPr>
          <p:cNvPr id="11" name="Text 8"/>
          <p:cNvSpPr/>
          <p:nvPr/>
        </p:nvSpPr>
        <p:spPr>
          <a:xfrm>
            <a:off x="6995160" y="3950208"/>
            <a:ext cx="4389120" cy="548640"/>
          </a:xfrm>
          <a:prstGeom prst="rect">
            <a:avLst/>
          </a:prstGeom>
          <a:noFill/>
          <a:ln/>
        </p:spPr>
        <p:txBody>
          <a:bodyPr wrap="square" lIns="0" tIns="0" rIns="0" bIns="0" rtlCol="0" anchor="ctr"/>
          <a:lstStyle/>
          <a:p>
            <a:pPr indent="0" marL="0">
              <a:buNone/>
            </a:pPr>
            <a:r>
              <a:rPr lang="en-US" sz="1300" dirty="0">
                <a:solidFill>
                  <a:srgbClr val="D8DCEF"/>
                </a:solidFill>
                <a:latin typeface="Calibri" pitchFamily="34" charset="0"/>
                <a:ea typeface="Calibri" pitchFamily="34" charset="-122"/>
                <a:cs typeface="Calibri" pitchFamily="34" charset="-120"/>
              </a:rPr>
              <a:t>Plan type, tenure, usage trend, logins and recency.</a:t>
            </a:r>
            <a:endParaRPr lang="en-US" sz="1300" dirty="0"/>
          </a:p>
        </p:txBody>
      </p:sp>
      <p:sp>
        <p:nvSpPr>
          <p:cNvPr id="12" name="Shape 9"/>
          <p:cNvSpPr/>
          <p:nvPr/>
        </p:nvSpPr>
        <p:spPr>
          <a:xfrm>
            <a:off x="6720840" y="4754880"/>
            <a:ext cx="4937760" cy="1234440"/>
          </a:xfrm>
          <a:prstGeom prst="roundRect">
            <a:avLst>
              <a:gd name="adj" fmla="val 8889"/>
            </a:avLst>
          </a:prstGeom>
          <a:solidFill>
            <a:srgbClr val="1A1E30"/>
          </a:solidFill>
          <a:ln w="12700">
            <a:solidFill>
              <a:srgbClr val="2E3450"/>
            </a:solidFill>
            <a:prstDash val="solid"/>
          </a:ln>
        </p:spPr>
      </p:sp>
      <p:sp>
        <p:nvSpPr>
          <p:cNvPr id="13" name="Text 10"/>
          <p:cNvSpPr/>
          <p:nvPr/>
        </p:nvSpPr>
        <p:spPr>
          <a:xfrm>
            <a:off x="6995160" y="4937760"/>
            <a:ext cx="4389120" cy="365760"/>
          </a:xfrm>
          <a:prstGeom prst="rect">
            <a:avLst/>
          </a:prstGeom>
          <a:noFill/>
          <a:ln/>
        </p:spPr>
        <p:txBody>
          <a:bodyPr wrap="square" lIns="0" tIns="0" rIns="0" bIns="0" rtlCol="0" anchor="ctr"/>
          <a:lstStyle/>
          <a:p>
            <a:pPr indent="0" marL="0">
              <a:buNone/>
            </a:pPr>
            <a:r>
              <a:rPr lang="en-US" sz="1600" b="1" dirty="0">
                <a:solidFill>
                  <a:srgbClr val="6C8CFF"/>
                </a:solidFill>
                <a:latin typeface="Bookman Old Style" pitchFamily="34" charset="0"/>
                <a:ea typeface="Bookman Old Style" pitchFamily="34" charset="-122"/>
                <a:cs typeface="Bookman Old Style" pitchFamily="34" charset="-120"/>
              </a:rPr>
              <a:t>Personalised interventions</a:t>
            </a:r>
            <a:endParaRPr lang="en-US" sz="1600" dirty="0"/>
          </a:p>
        </p:txBody>
      </p:sp>
      <p:sp>
        <p:nvSpPr>
          <p:cNvPr id="14" name="Text 11"/>
          <p:cNvSpPr/>
          <p:nvPr/>
        </p:nvSpPr>
        <p:spPr>
          <a:xfrm>
            <a:off x="6995160" y="5321808"/>
            <a:ext cx="4389120" cy="548640"/>
          </a:xfrm>
          <a:prstGeom prst="rect">
            <a:avLst/>
          </a:prstGeom>
          <a:noFill/>
          <a:ln/>
        </p:spPr>
        <p:txBody>
          <a:bodyPr wrap="square" lIns="0" tIns="0" rIns="0" bIns="0" rtlCol="0" anchor="ctr"/>
          <a:lstStyle/>
          <a:p>
            <a:pPr indent="0" marL="0">
              <a:buNone/>
            </a:pPr>
            <a:r>
              <a:rPr lang="en-US" sz="1300" dirty="0">
                <a:solidFill>
                  <a:srgbClr val="D8DCEF"/>
                </a:solidFill>
                <a:latin typeface="Calibri" pitchFamily="34" charset="0"/>
                <a:ea typeface="Calibri" pitchFamily="34" charset="-122"/>
                <a:cs typeface="Calibri" pitchFamily="34" charset="-120"/>
              </a:rPr>
              <a:t>The success team tailors the offer to the actual reason.</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220"/>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300" b="1" spc="200" kern="0" dirty="0">
                <a:solidFill>
                  <a:srgbClr val="6C8CFF"/>
                </a:solidFill>
                <a:latin typeface="Calibri" pitchFamily="34" charset="0"/>
                <a:ea typeface="Calibri" pitchFamily="34" charset="-122"/>
                <a:cs typeface="Calibri" pitchFamily="34" charset="-120"/>
              </a:rPr>
              <a:t>BUSINESS IMPACT &amp; SENSITIVITY</a:t>
            </a:r>
            <a:endParaRPr lang="en-US" sz="13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indent="0" marL="0">
              <a:buNone/>
            </a:pPr>
            <a:r>
              <a:rPr lang="en-US" sz="3000" b="1" dirty="0">
                <a:solidFill>
                  <a:srgbClr val="FFFFFF"/>
                </a:solidFill>
                <a:latin typeface="Bookman Old Style" pitchFamily="34" charset="0"/>
                <a:ea typeface="Bookman Old Style" pitchFamily="34" charset="-122"/>
                <a:cs typeface="Bookman Old Style" pitchFamily="34" charset="-120"/>
              </a:rPr>
              <a:t>The 20% target is derived, not assumed</a:t>
            </a:r>
            <a:endParaRPr lang="en-US" sz="3000" dirty="0"/>
          </a:p>
        </p:txBody>
      </p:sp>
      <p:sp>
        <p:nvSpPr>
          <p:cNvPr id="4" name="Shape 2"/>
          <p:cNvSpPr/>
          <p:nvPr/>
        </p:nvSpPr>
        <p:spPr>
          <a:xfrm>
            <a:off x="548640" y="1874520"/>
            <a:ext cx="5486400" cy="1417320"/>
          </a:xfrm>
          <a:prstGeom prst="roundRect">
            <a:avLst>
              <a:gd name="adj" fmla="val 7742"/>
            </a:avLst>
          </a:prstGeom>
          <a:solidFill>
            <a:srgbClr val="232840"/>
          </a:solidFill>
          <a:ln w="12700">
            <a:solidFill>
              <a:srgbClr val="2E3450"/>
            </a:solidFill>
            <a:prstDash val="solid"/>
          </a:ln>
        </p:spPr>
      </p:sp>
      <p:sp>
        <p:nvSpPr>
          <p:cNvPr id="5" name="Text 3"/>
          <p:cNvSpPr/>
          <p:nvPr/>
        </p:nvSpPr>
        <p:spPr>
          <a:xfrm>
            <a:off x="822960" y="2011680"/>
            <a:ext cx="4937760" cy="1143000"/>
          </a:xfrm>
          <a:prstGeom prst="rect">
            <a:avLst/>
          </a:prstGeom>
          <a:noFill/>
          <a:ln/>
        </p:spPr>
        <p:txBody>
          <a:bodyPr wrap="square" lIns="0" tIns="0" rIns="0" bIns="0" rtlCol="0" anchor="ctr"/>
          <a:lstStyle/>
          <a:p>
            <a:pPr indent="0" marL="0">
              <a:buNone/>
            </a:pPr>
            <a:r>
              <a:rPr lang="en-US" sz="1800" b="1" dirty="0">
                <a:solidFill>
                  <a:srgbClr val="FFFFFF"/>
                </a:solidFill>
                <a:latin typeface="Bookman Old Style" pitchFamily="34" charset="0"/>
                <a:ea typeface="Bookman Old Style" pitchFamily="34" charset="-122"/>
                <a:cs typeface="Bookman Old Style" pitchFamily="34" charset="-120"/>
              </a:rPr>
              <a:t>churn reduction  =  recall × intervention success
</a:t>
            </a:r>
            <a:endParaRPr lang="en-US" sz="1800" dirty="0"/>
          </a:p>
          <a:p>
            <a:pPr indent="0" marL="0">
              <a:buNone/>
            </a:pPr>
            <a:r>
              <a:rPr lang="en-US" sz="1800" b="1" dirty="0">
                <a:solidFill>
                  <a:srgbClr val="3ECF8E"/>
                </a:solidFill>
                <a:latin typeface="Bookman Old Style" pitchFamily="34" charset="0"/>
                <a:ea typeface="Bookman Old Style" pitchFamily="34" charset="-122"/>
                <a:cs typeface="Bookman Old Style" pitchFamily="34" charset="-120"/>
              </a:rPr>
              <a:t>0.84 × 24%  ≈  20%</a:t>
            </a:r>
            <a:endParaRPr lang="en-US" sz="1800" dirty="0"/>
          </a:p>
        </p:txBody>
      </p:sp>
      <p:sp>
        <p:nvSpPr>
          <p:cNvPr id="6" name="Shape 4"/>
          <p:cNvSpPr/>
          <p:nvPr/>
        </p:nvSpPr>
        <p:spPr>
          <a:xfrm>
            <a:off x="548640" y="3474720"/>
            <a:ext cx="2697480" cy="1371600"/>
          </a:xfrm>
          <a:prstGeom prst="roundRect">
            <a:avLst>
              <a:gd name="adj" fmla="val 8000"/>
            </a:avLst>
          </a:prstGeom>
          <a:solidFill>
            <a:srgbClr val="1A1E30"/>
          </a:solidFill>
          <a:ln w="12700">
            <a:solidFill>
              <a:srgbClr val="2E3450"/>
            </a:solidFill>
            <a:prstDash val="solid"/>
          </a:ln>
        </p:spPr>
      </p:sp>
      <p:sp>
        <p:nvSpPr>
          <p:cNvPr id="7" name="Text 5"/>
          <p:cNvSpPr/>
          <p:nvPr/>
        </p:nvSpPr>
        <p:spPr>
          <a:xfrm>
            <a:off x="548640" y="3611880"/>
            <a:ext cx="2697480" cy="640080"/>
          </a:xfrm>
          <a:prstGeom prst="rect">
            <a:avLst/>
          </a:prstGeom>
          <a:noFill/>
          <a:ln/>
        </p:spPr>
        <p:txBody>
          <a:bodyPr wrap="square" lIns="0" tIns="0" rIns="0" bIns="0" rtlCol="0" anchor="ctr"/>
          <a:lstStyle/>
          <a:p>
            <a:pPr algn="ctr" indent="0" marL="0">
              <a:buNone/>
            </a:pPr>
            <a:r>
              <a:rPr lang="en-US" sz="3400" b="1" dirty="0">
                <a:solidFill>
                  <a:srgbClr val="3ECF8E"/>
                </a:solidFill>
                <a:latin typeface="Bookman Old Style" pitchFamily="34" charset="0"/>
                <a:ea typeface="Bookman Old Style" pitchFamily="34" charset="-122"/>
                <a:cs typeface="Bookman Old Style" pitchFamily="34" charset="-120"/>
              </a:rPr>
              <a:t>€22K</a:t>
            </a:r>
            <a:endParaRPr lang="en-US" sz="3400" dirty="0"/>
          </a:p>
        </p:txBody>
      </p:sp>
      <p:sp>
        <p:nvSpPr>
          <p:cNvPr id="8" name="Text 6"/>
          <p:cNvSpPr/>
          <p:nvPr/>
        </p:nvSpPr>
        <p:spPr>
          <a:xfrm>
            <a:off x="548640" y="4279392"/>
            <a:ext cx="2697480" cy="365760"/>
          </a:xfrm>
          <a:prstGeom prst="rect">
            <a:avLst/>
          </a:prstGeom>
          <a:noFill/>
          <a:ln/>
        </p:spPr>
        <p:txBody>
          <a:bodyPr wrap="square" lIns="0" tIns="0" rIns="0" bIns="0" rtlCol="0" anchor="ctr"/>
          <a:lstStyle/>
          <a:p>
            <a:pPr algn="ctr" indent="0" marL="0">
              <a:buNone/>
            </a:pPr>
            <a:r>
              <a:rPr lang="en-US" sz="1250" dirty="0">
                <a:solidFill>
                  <a:srgbClr val="9AA0BD"/>
                </a:solidFill>
                <a:latin typeface="Calibri" pitchFamily="34" charset="0"/>
                <a:ea typeface="Calibri" pitchFamily="34" charset="-122"/>
                <a:cs typeface="Calibri" pitchFamily="34" charset="-120"/>
              </a:rPr>
              <a:t>net benefit · year 1</a:t>
            </a:r>
            <a:endParaRPr lang="en-US" sz="1250" dirty="0"/>
          </a:p>
        </p:txBody>
      </p:sp>
      <p:sp>
        <p:nvSpPr>
          <p:cNvPr id="9" name="Shape 7"/>
          <p:cNvSpPr/>
          <p:nvPr/>
        </p:nvSpPr>
        <p:spPr>
          <a:xfrm>
            <a:off x="3337560" y="3474720"/>
            <a:ext cx="2697480" cy="1371600"/>
          </a:xfrm>
          <a:prstGeom prst="roundRect">
            <a:avLst>
              <a:gd name="adj" fmla="val 8000"/>
            </a:avLst>
          </a:prstGeom>
          <a:solidFill>
            <a:srgbClr val="1A1E30"/>
          </a:solidFill>
          <a:ln w="12700">
            <a:solidFill>
              <a:srgbClr val="2E3450"/>
            </a:solidFill>
            <a:prstDash val="solid"/>
          </a:ln>
        </p:spPr>
      </p:sp>
      <p:sp>
        <p:nvSpPr>
          <p:cNvPr id="10" name="Text 8"/>
          <p:cNvSpPr/>
          <p:nvPr/>
        </p:nvSpPr>
        <p:spPr>
          <a:xfrm>
            <a:off x="3337560" y="3611880"/>
            <a:ext cx="2697480" cy="640080"/>
          </a:xfrm>
          <a:prstGeom prst="rect">
            <a:avLst/>
          </a:prstGeom>
          <a:noFill/>
          <a:ln/>
        </p:spPr>
        <p:txBody>
          <a:bodyPr wrap="square" lIns="0" tIns="0" rIns="0" bIns="0" rtlCol="0" anchor="ctr"/>
          <a:lstStyle/>
          <a:p>
            <a:pPr algn="ctr" indent="0" marL="0">
              <a:buNone/>
            </a:pPr>
            <a:r>
              <a:rPr lang="en-US" sz="3400" b="1" dirty="0">
                <a:solidFill>
                  <a:srgbClr val="3ECF8E"/>
                </a:solidFill>
                <a:latin typeface="Bookman Old Style" pitchFamily="34" charset="0"/>
                <a:ea typeface="Bookman Old Style" pitchFamily="34" charset="-122"/>
                <a:cs typeface="Bookman Old Style" pitchFamily="34" charset="-120"/>
              </a:rPr>
              <a:t>€42K</a:t>
            </a:r>
            <a:endParaRPr lang="en-US" sz="3400" dirty="0"/>
          </a:p>
        </p:txBody>
      </p:sp>
      <p:sp>
        <p:nvSpPr>
          <p:cNvPr id="11" name="Text 9"/>
          <p:cNvSpPr/>
          <p:nvPr/>
        </p:nvSpPr>
        <p:spPr>
          <a:xfrm>
            <a:off x="3337560" y="4279392"/>
            <a:ext cx="2697480" cy="365760"/>
          </a:xfrm>
          <a:prstGeom prst="rect">
            <a:avLst/>
          </a:prstGeom>
          <a:noFill/>
          <a:ln/>
        </p:spPr>
        <p:txBody>
          <a:bodyPr wrap="square" lIns="0" tIns="0" rIns="0" bIns="0" rtlCol="0" anchor="ctr"/>
          <a:lstStyle/>
          <a:p>
            <a:pPr algn="ctr" indent="0" marL="0">
              <a:buNone/>
            </a:pPr>
            <a:r>
              <a:rPr lang="en-US" sz="1250" dirty="0">
                <a:solidFill>
                  <a:srgbClr val="9AA0BD"/>
                </a:solidFill>
                <a:latin typeface="Calibri" pitchFamily="34" charset="0"/>
                <a:ea typeface="Calibri" pitchFamily="34" charset="-122"/>
                <a:cs typeface="Calibri" pitchFamily="34" charset="-120"/>
              </a:rPr>
              <a:t>net benefit · year 2+</a:t>
            </a:r>
            <a:endParaRPr lang="en-US" sz="1250" dirty="0"/>
          </a:p>
        </p:txBody>
      </p:sp>
      <p:sp>
        <p:nvSpPr>
          <p:cNvPr id="12" name="Shape 10"/>
          <p:cNvSpPr/>
          <p:nvPr/>
        </p:nvSpPr>
        <p:spPr>
          <a:xfrm>
            <a:off x="548640" y="4983480"/>
            <a:ext cx="5486400" cy="1188720"/>
          </a:xfrm>
          <a:prstGeom prst="roundRect">
            <a:avLst>
              <a:gd name="adj" fmla="val 9231"/>
            </a:avLst>
          </a:prstGeom>
          <a:solidFill>
            <a:srgbClr val="1A1E30"/>
          </a:solidFill>
          <a:ln w="12700">
            <a:solidFill>
              <a:srgbClr val="2E3450"/>
            </a:solidFill>
            <a:prstDash val="solid"/>
          </a:ln>
        </p:spPr>
      </p:sp>
      <p:sp>
        <p:nvSpPr>
          <p:cNvPr id="13" name="Text 11"/>
          <p:cNvSpPr/>
          <p:nvPr/>
        </p:nvSpPr>
        <p:spPr>
          <a:xfrm>
            <a:off x="822960" y="5074920"/>
            <a:ext cx="4937760" cy="1005840"/>
          </a:xfrm>
          <a:prstGeom prst="rect">
            <a:avLst/>
          </a:prstGeom>
          <a:noFill/>
          <a:ln/>
        </p:spPr>
        <p:txBody>
          <a:bodyPr wrap="square" lIns="0" tIns="0" rIns="0" bIns="0" rtlCol="0" anchor="ctr"/>
          <a:lstStyle/>
          <a:p>
            <a:pPr indent="0" marL="0">
              <a:buNone/>
            </a:pPr>
            <a:r>
              <a:rPr lang="en-US" sz="1250" b="1" dirty="0">
                <a:solidFill>
                  <a:srgbClr val="F0A04B"/>
                </a:solidFill>
                <a:latin typeface="Calibri" pitchFamily="34" charset="0"/>
                <a:ea typeface="Calibri" pitchFamily="34" charset="-122"/>
                <a:cs typeface="Calibri" pitchFamily="34" charset="-120"/>
              </a:rPr>
              <a:t>Sensitivity finding:  </a:t>
            </a:r>
            <a:pPr indent="0" marL="0">
              <a:buNone/>
            </a:pPr>
            <a:r>
              <a:rPr lang="en-US" sz="1250" dirty="0">
                <a:solidFill>
                  <a:srgbClr val="D8DCEF"/>
                </a:solidFill>
                <a:latin typeface="Calibri" pitchFamily="34" charset="0"/>
                <a:ea typeface="Calibri" pitchFamily="34" charset="-122"/>
                <a:cs typeface="Calibri" pitchFamily="34" charset="-120"/>
              </a:rPr>
              <a:t>because precision is low, we contact ~1,600/mo to save 100. Even €5 outreach cost per contact flips ROI negative — so precision / top-N targeting is the key lever.</a:t>
            </a:r>
            <a:endParaRPr lang="en-US" sz="1250" dirty="0"/>
          </a:p>
        </p:txBody>
      </p:sp>
      <p:sp>
        <p:nvSpPr>
          <p:cNvPr id="14" name="Shape 12"/>
          <p:cNvSpPr/>
          <p:nvPr/>
        </p:nvSpPr>
        <p:spPr>
          <a:xfrm>
            <a:off x="6172200" y="1874520"/>
            <a:ext cx="5468112" cy="4297680"/>
          </a:xfrm>
          <a:prstGeom prst="roundRect">
            <a:avLst>
              <a:gd name="adj" fmla="val 2553"/>
            </a:avLst>
          </a:prstGeom>
          <a:solidFill>
            <a:srgbClr val="FFFFFF"/>
          </a:solidFill>
          <a:ln w="12700">
            <a:solidFill>
              <a:srgbClr val="2E3450"/>
            </a:solidFill>
            <a:prstDash val="solid"/>
          </a:ln>
        </p:spPr>
      </p:sp>
      <p:pic>
        <p:nvPicPr>
          <p:cNvPr id="15" name="Image 0" descr="outputs/figures/sensitivity.png">    </p:cNvPr>
          <p:cNvPicPr>
            <a:picLocks noChangeAspect="1"/>
          </p:cNvPicPr>
          <p:nvPr/>
        </p:nvPicPr>
        <p:blipFill>
          <a:blip r:embed="rId1"/>
          <a:stretch>
            <a:fillRect/>
          </a:stretch>
        </p:blipFill>
        <p:spPr>
          <a:xfrm>
            <a:off x="6355080" y="2201091"/>
            <a:ext cx="5102352" cy="364453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220"/>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300" b="1" spc="200" kern="0" dirty="0">
                <a:solidFill>
                  <a:srgbClr val="6C8CFF"/>
                </a:solidFill>
                <a:latin typeface="Calibri" pitchFamily="34" charset="0"/>
                <a:ea typeface="Calibri" pitchFamily="34" charset="-122"/>
                <a:cs typeface="Calibri" pitchFamily="34" charset="-120"/>
              </a:rPr>
              <a:t>LIVE DEMO</a:t>
            </a:r>
            <a:endParaRPr lang="en-US" sz="13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indent="0" marL="0">
              <a:buNone/>
            </a:pPr>
            <a:r>
              <a:rPr lang="en-US" sz="3000" b="1" dirty="0">
                <a:solidFill>
                  <a:srgbClr val="FFFFFF"/>
                </a:solidFill>
                <a:latin typeface="Bookman Old Style" pitchFamily="34" charset="0"/>
                <a:ea typeface="Bookman Old Style" pitchFamily="34" charset="-122"/>
                <a:cs typeface="Bookman Old Style" pitchFamily="34" charset="-120"/>
              </a:rPr>
              <a:t>Query the trained model in real time</a:t>
            </a:r>
            <a:endParaRPr lang="en-US" sz="3000" dirty="0"/>
          </a:p>
        </p:txBody>
      </p:sp>
      <p:sp>
        <p:nvSpPr>
          <p:cNvPr id="4" name="Text 2"/>
          <p:cNvSpPr/>
          <p:nvPr/>
        </p:nvSpPr>
        <p:spPr>
          <a:xfrm>
            <a:off x="548640" y="1691640"/>
            <a:ext cx="544068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At-risk customer  </a:t>
            </a:r>
            <a:pPr indent="0" marL="0">
              <a:buNone/>
            </a:pPr>
            <a:r>
              <a:rPr lang="en-US" sz="1500" b="1" dirty="0">
                <a:solidFill>
                  <a:srgbClr val="EF4767"/>
                </a:solidFill>
                <a:latin typeface="Calibri" pitchFamily="34" charset="0"/>
                <a:ea typeface="Calibri" pitchFamily="34" charset="-122"/>
                <a:cs typeface="Calibri" pitchFamily="34" charset="-120"/>
              </a:rPr>
              <a:t>→ 94.9% · HIGH RISK</a:t>
            </a:r>
            <a:endParaRPr lang="en-US" sz="1500" dirty="0"/>
          </a:p>
        </p:txBody>
      </p:sp>
      <p:sp>
        <p:nvSpPr>
          <p:cNvPr id="5" name="Shape 3"/>
          <p:cNvSpPr/>
          <p:nvPr/>
        </p:nvSpPr>
        <p:spPr>
          <a:xfrm>
            <a:off x="548640" y="2148840"/>
            <a:ext cx="5440680" cy="2971800"/>
          </a:xfrm>
          <a:prstGeom prst="roundRect">
            <a:avLst>
              <a:gd name="adj" fmla="val 3692"/>
            </a:avLst>
          </a:prstGeom>
          <a:solidFill>
            <a:srgbClr val="FFFFFF"/>
          </a:solidFill>
          <a:ln w="12700">
            <a:solidFill>
              <a:srgbClr val="2E3450"/>
            </a:solidFill>
            <a:prstDash val="solid"/>
          </a:ln>
        </p:spPr>
      </p:sp>
      <p:pic>
        <p:nvPicPr>
          <p:cNvPr id="6" name="Image 0" descr="presentation/assets/demo_high_crop.png">    </p:cNvPr>
          <p:cNvPicPr>
            <a:picLocks noChangeAspect="1"/>
          </p:cNvPicPr>
          <p:nvPr/>
        </p:nvPicPr>
        <p:blipFill>
          <a:blip r:embed="rId1"/>
          <a:stretch>
            <a:fillRect/>
          </a:stretch>
        </p:blipFill>
        <p:spPr>
          <a:xfrm>
            <a:off x="1342339" y="2258568"/>
            <a:ext cx="3853282" cy="2752344"/>
          </a:xfrm>
          <a:prstGeom prst="rect">
            <a:avLst/>
          </a:prstGeom>
        </p:spPr>
      </p:pic>
      <p:sp>
        <p:nvSpPr>
          <p:cNvPr id="7" name="Text 4"/>
          <p:cNvSpPr/>
          <p:nvPr/>
        </p:nvSpPr>
        <p:spPr>
          <a:xfrm>
            <a:off x="6199632" y="1691640"/>
            <a:ext cx="544068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Loyal customer  </a:t>
            </a:r>
            <a:pPr indent="0" marL="0">
              <a:buNone/>
            </a:pPr>
            <a:r>
              <a:rPr lang="en-US" sz="1500" b="1" dirty="0">
                <a:solidFill>
                  <a:srgbClr val="3ECF8E"/>
                </a:solidFill>
                <a:latin typeface="Calibri" pitchFamily="34" charset="0"/>
                <a:ea typeface="Calibri" pitchFamily="34" charset="-122"/>
                <a:cs typeface="Calibri" pitchFamily="34" charset="-120"/>
              </a:rPr>
              <a:t>→ 1.1% · LOW RISK</a:t>
            </a:r>
            <a:endParaRPr lang="en-US" sz="1500" dirty="0"/>
          </a:p>
        </p:txBody>
      </p:sp>
      <p:sp>
        <p:nvSpPr>
          <p:cNvPr id="8" name="Shape 5"/>
          <p:cNvSpPr/>
          <p:nvPr/>
        </p:nvSpPr>
        <p:spPr>
          <a:xfrm>
            <a:off x="6199632" y="2148840"/>
            <a:ext cx="5440680" cy="2971800"/>
          </a:xfrm>
          <a:prstGeom prst="roundRect">
            <a:avLst>
              <a:gd name="adj" fmla="val 3692"/>
            </a:avLst>
          </a:prstGeom>
          <a:solidFill>
            <a:srgbClr val="FFFFFF"/>
          </a:solidFill>
          <a:ln w="12700">
            <a:solidFill>
              <a:srgbClr val="2E3450"/>
            </a:solidFill>
            <a:prstDash val="solid"/>
          </a:ln>
        </p:spPr>
      </p:sp>
      <p:pic>
        <p:nvPicPr>
          <p:cNvPr id="9" name="Image 1" descr="presentation/assets/demo_low_crop.png">    </p:cNvPr>
          <p:cNvPicPr>
            <a:picLocks noChangeAspect="1"/>
          </p:cNvPicPr>
          <p:nvPr/>
        </p:nvPicPr>
        <p:blipFill>
          <a:blip r:embed="rId2"/>
          <a:stretch>
            <a:fillRect/>
          </a:stretch>
        </p:blipFill>
        <p:spPr>
          <a:xfrm>
            <a:off x="6993331" y="2258568"/>
            <a:ext cx="3853282" cy="2752344"/>
          </a:xfrm>
          <a:prstGeom prst="rect">
            <a:avLst/>
          </a:prstGeom>
        </p:spPr>
      </p:pic>
      <p:sp>
        <p:nvSpPr>
          <p:cNvPr id="10" name="Shape 6"/>
          <p:cNvSpPr/>
          <p:nvPr/>
        </p:nvSpPr>
        <p:spPr>
          <a:xfrm>
            <a:off x="548640" y="5349240"/>
            <a:ext cx="11091672" cy="960120"/>
          </a:xfrm>
          <a:prstGeom prst="roundRect">
            <a:avLst>
              <a:gd name="adj" fmla="val 11429"/>
            </a:avLst>
          </a:prstGeom>
          <a:solidFill>
            <a:srgbClr val="232840"/>
          </a:solidFill>
          <a:ln w="12700">
            <a:solidFill>
              <a:srgbClr val="2E3450"/>
            </a:solidFill>
            <a:prstDash val="solid"/>
          </a:ln>
        </p:spPr>
      </p:sp>
      <p:sp>
        <p:nvSpPr>
          <p:cNvPr id="11" name="Text 7"/>
          <p:cNvSpPr/>
          <p:nvPr/>
        </p:nvSpPr>
        <p:spPr>
          <a:xfrm>
            <a:off x="822960" y="5349240"/>
            <a:ext cx="10515600" cy="960120"/>
          </a:xfrm>
          <a:prstGeom prst="rect">
            <a:avLst/>
          </a:prstGeom>
          <a:noFill/>
          <a:ln/>
        </p:spPr>
        <p:txBody>
          <a:bodyPr wrap="square" lIns="0" tIns="0" rIns="0" bIns="0" rtlCol="0" anchor="ctr"/>
          <a:lstStyle/>
          <a:p>
            <a:pPr indent="0" marL="0">
              <a:buNone/>
            </a:pPr>
            <a:r>
              <a:rPr lang="en-US" sz="1350" b="1" dirty="0">
                <a:solidFill>
                  <a:srgbClr val="6C8CFF"/>
                </a:solidFill>
                <a:latin typeface="Calibri" pitchFamily="34" charset="0"/>
                <a:ea typeface="Calibri" pitchFamily="34" charset="-122"/>
                <a:cs typeface="Calibri" pitchFamily="34" charset="-120"/>
              </a:rPr>
              <a:t>How it works:  </a:t>
            </a:r>
            <a:pPr indent="0" marL="0">
              <a:buNone/>
            </a:pPr>
            <a:r>
              <a:rPr lang="en-US" sz="1350" dirty="0">
                <a:solidFill>
                  <a:srgbClr val="D8DCEF"/>
                </a:solidFill>
                <a:latin typeface="Calibri" pitchFamily="34" charset="0"/>
                <a:ea typeface="Calibri" pitchFamily="34" charset="-122"/>
                <a:cs typeface="Calibri" pitchFamily="34" charset="-120"/>
              </a:rPr>
              <a:t>enter a customer → the model returns churn probability, a risk tier and a suggested action, with the top SHAP drivers explaining why.        </a:t>
            </a:r>
            <a:pPr indent="0" marL="0">
              <a:buNone/>
            </a:pPr>
            <a:r>
              <a:rPr lang="en-US" sz="1350" b="1" dirty="0">
                <a:solidFill>
                  <a:srgbClr val="F0A04B"/>
                </a:solidFill>
                <a:latin typeface="Calibri" pitchFamily="34" charset="0"/>
                <a:ea typeface="Calibri" pitchFamily="34" charset="-122"/>
                <a:cs typeface="Calibri" pitchFamily="34" charset="-120"/>
              </a:rPr>
              <a:t>Run:  </a:t>
            </a:r>
            <a:pPr indent="0" marL="0">
              <a:buNone/>
            </a:pPr>
            <a:r>
              <a:rPr lang="en-US" sz="1350" dirty="0">
                <a:solidFill>
                  <a:srgbClr val="D8DCEF"/>
                </a:solidFill>
                <a:latin typeface="Consolas" pitchFamily="34" charset="0"/>
                <a:ea typeface="Consolas" pitchFamily="34" charset="-122"/>
                <a:cs typeface="Consolas" pitchFamily="34" charset="-120"/>
              </a:rPr>
              <a:t>python app.py → localhost:5000</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220"/>
        </a:solidFill>
      </p:bgPr>
    </p:bg>
    <p:spTree>
      <p:nvGrpSpPr>
        <p:cNvPr id="1" name=""/>
        <p:cNvGrpSpPr/>
        <p:nvPr/>
      </p:nvGrpSpPr>
      <p:grpSpPr>
        <a:xfrm>
          <a:off x="0" y="0"/>
          <a:ext cx="0" cy="0"/>
          <a:chOff x="0" y="0"/>
          <a:chExt cx="0" cy="0"/>
        </a:xfrm>
      </p:grpSpPr>
      <p:sp>
        <p:nvSpPr>
          <p:cNvPr id="2" name="Shape 0"/>
          <p:cNvSpPr/>
          <p:nvPr/>
        </p:nvSpPr>
        <p:spPr>
          <a:xfrm>
            <a:off x="8046720" y="-1463040"/>
            <a:ext cx="5486400" cy="5486400"/>
          </a:xfrm>
          <a:prstGeom prst="roundRect">
            <a:avLst>
              <a:gd name="adj" fmla="val 50000"/>
            </a:avLst>
          </a:prstGeom>
          <a:solidFill>
            <a:srgbClr val="6C8CFF">
              <a:alpha val="12000"/>
            </a:srgbClr>
          </a:solidFill>
          <a:ln/>
        </p:spPr>
      </p:sp>
      <p:sp>
        <p:nvSpPr>
          <p:cNvPr id="3" name="Text 1"/>
          <p:cNvSpPr/>
          <p:nvPr/>
        </p:nvSpPr>
        <p:spPr>
          <a:xfrm>
            <a:off x="822960" y="777240"/>
            <a:ext cx="7315200" cy="320040"/>
          </a:xfrm>
          <a:prstGeom prst="rect">
            <a:avLst/>
          </a:prstGeom>
          <a:noFill/>
          <a:ln/>
        </p:spPr>
        <p:txBody>
          <a:bodyPr wrap="square" lIns="0" tIns="0" rIns="0" bIns="0" rtlCol="0" anchor="ctr"/>
          <a:lstStyle/>
          <a:p>
            <a:pPr indent="0" marL="0">
              <a:buNone/>
            </a:pPr>
            <a:r>
              <a:rPr lang="en-US" sz="1400" b="1" spc="200" kern="0" dirty="0">
                <a:solidFill>
                  <a:srgbClr val="6C8CFF"/>
                </a:solidFill>
                <a:latin typeface="Calibri" pitchFamily="34" charset="0"/>
                <a:ea typeface="Calibri" pitchFamily="34" charset="-122"/>
                <a:cs typeface="Calibri" pitchFamily="34" charset="-120"/>
              </a:rPr>
              <a:t>CONCLUSION</a:t>
            </a:r>
            <a:endParaRPr lang="en-US" sz="1400" dirty="0"/>
          </a:p>
        </p:txBody>
      </p:sp>
      <p:sp>
        <p:nvSpPr>
          <p:cNvPr id="4" name="Text 2"/>
          <p:cNvSpPr/>
          <p:nvPr/>
        </p:nvSpPr>
        <p:spPr>
          <a:xfrm>
            <a:off x="822960" y="1143000"/>
            <a:ext cx="10515600" cy="822960"/>
          </a:xfrm>
          <a:prstGeom prst="rect">
            <a:avLst/>
          </a:prstGeom>
          <a:noFill/>
          <a:ln/>
        </p:spPr>
        <p:txBody>
          <a:bodyPr wrap="square" lIns="0" tIns="0" rIns="0" bIns="0" rtlCol="0" anchor="ctr"/>
          <a:lstStyle/>
          <a:p>
            <a:pPr indent="0" marL="0">
              <a:buNone/>
            </a:pPr>
            <a:r>
              <a:rPr lang="en-US" sz="3000" b="1" dirty="0">
                <a:solidFill>
                  <a:srgbClr val="FFFFFF"/>
                </a:solidFill>
                <a:latin typeface="Bookman Old Style" pitchFamily="34" charset="0"/>
                <a:ea typeface="Bookman Old Style" pitchFamily="34" charset="-122"/>
                <a:cs typeface="Bookman Old Style" pitchFamily="34" charset="-120"/>
              </a:rPr>
              <a:t>Technically sound and financially attractive</a:t>
            </a:r>
            <a:endParaRPr lang="en-US" sz="3000" dirty="0"/>
          </a:p>
        </p:txBody>
      </p:sp>
      <p:sp>
        <p:nvSpPr>
          <p:cNvPr id="5" name="Shape 3"/>
          <p:cNvSpPr/>
          <p:nvPr/>
        </p:nvSpPr>
        <p:spPr>
          <a:xfrm>
            <a:off x="548640" y="2194560"/>
            <a:ext cx="5394960" cy="2743200"/>
          </a:xfrm>
          <a:prstGeom prst="roundRect">
            <a:avLst>
              <a:gd name="adj" fmla="val 4000"/>
            </a:avLst>
          </a:prstGeom>
          <a:solidFill>
            <a:srgbClr val="1A1E30"/>
          </a:solidFill>
          <a:ln w="12700">
            <a:solidFill>
              <a:srgbClr val="2E3450"/>
            </a:solidFill>
            <a:prstDash val="solid"/>
          </a:ln>
        </p:spPr>
      </p:sp>
      <p:sp>
        <p:nvSpPr>
          <p:cNvPr id="6" name="Text 4"/>
          <p:cNvSpPr/>
          <p:nvPr/>
        </p:nvSpPr>
        <p:spPr>
          <a:xfrm>
            <a:off x="868680" y="2395728"/>
            <a:ext cx="4754880" cy="411480"/>
          </a:xfrm>
          <a:prstGeom prst="rect">
            <a:avLst/>
          </a:prstGeom>
          <a:noFill/>
          <a:ln/>
        </p:spPr>
        <p:txBody>
          <a:bodyPr wrap="square" lIns="0" tIns="0" rIns="0" bIns="0" rtlCol="0" anchor="ctr"/>
          <a:lstStyle/>
          <a:p>
            <a:pPr indent="0" marL="0">
              <a:buNone/>
            </a:pPr>
            <a:r>
              <a:rPr lang="en-US" sz="1900" b="1" dirty="0">
                <a:solidFill>
                  <a:srgbClr val="3ECF8E"/>
                </a:solidFill>
                <a:latin typeface="Bookman Old Style" pitchFamily="34" charset="0"/>
                <a:ea typeface="Bookman Old Style" pitchFamily="34" charset="-122"/>
                <a:cs typeface="Bookman Old Style" pitchFamily="34" charset="-120"/>
              </a:rPr>
              <a:t>What works</a:t>
            </a:r>
            <a:endParaRPr lang="en-US" sz="1900" dirty="0"/>
          </a:p>
        </p:txBody>
      </p:sp>
      <p:sp>
        <p:nvSpPr>
          <p:cNvPr id="7" name="Shape 5"/>
          <p:cNvSpPr/>
          <p:nvPr/>
        </p:nvSpPr>
        <p:spPr>
          <a:xfrm>
            <a:off x="868680" y="2990088"/>
            <a:ext cx="137160" cy="137160"/>
          </a:xfrm>
          <a:prstGeom prst="roundRect">
            <a:avLst>
              <a:gd name="adj" fmla="val 46667"/>
            </a:avLst>
          </a:prstGeom>
          <a:solidFill>
            <a:srgbClr val="3ECF8E"/>
          </a:solidFill>
          <a:ln/>
        </p:spPr>
      </p:sp>
      <p:sp>
        <p:nvSpPr>
          <p:cNvPr id="8" name="Text 6"/>
          <p:cNvSpPr/>
          <p:nvPr/>
        </p:nvSpPr>
        <p:spPr>
          <a:xfrm>
            <a:off x="1115568" y="2852928"/>
            <a:ext cx="4480560" cy="548640"/>
          </a:xfrm>
          <a:prstGeom prst="rect">
            <a:avLst/>
          </a:prstGeom>
          <a:noFill/>
          <a:ln/>
        </p:spPr>
        <p:txBody>
          <a:bodyPr wrap="square" lIns="0" tIns="0" rIns="0" bIns="0" rtlCol="0" anchor="ctr"/>
          <a:lstStyle/>
          <a:p>
            <a:pPr indent="0" marL="0">
              <a:buNone/>
            </a:pPr>
            <a:r>
              <a:rPr lang="en-US" sz="1400" dirty="0">
                <a:solidFill>
                  <a:srgbClr val="D8DCEF"/>
                </a:solidFill>
                <a:latin typeface="Calibri" pitchFamily="34" charset="0"/>
                <a:ea typeface="Calibri" pitchFamily="34" charset="-122"/>
                <a:cs typeface="Calibri" pitchFamily="34" charset="-120"/>
              </a:rPr>
              <a:t>Meets targets: AUC ≈ 0.93, recall ≈ 0.84</a:t>
            </a:r>
            <a:endParaRPr lang="en-US" sz="1400" dirty="0"/>
          </a:p>
        </p:txBody>
      </p:sp>
      <p:sp>
        <p:nvSpPr>
          <p:cNvPr id="9" name="Shape 7"/>
          <p:cNvSpPr/>
          <p:nvPr/>
        </p:nvSpPr>
        <p:spPr>
          <a:xfrm>
            <a:off x="868680" y="3593592"/>
            <a:ext cx="137160" cy="137160"/>
          </a:xfrm>
          <a:prstGeom prst="roundRect">
            <a:avLst>
              <a:gd name="adj" fmla="val 46667"/>
            </a:avLst>
          </a:prstGeom>
          <a:solidFill>
            <a:srgbClr val="3ECF8E"/>
          </a:solidFill>
          <a:ln/>
        </p:spPr>
      </p:sp>
      <p:sp>
        <p:nvSpPr>
          <p:cNvPr id="10" name="Text 8"/>
          <p:cNvSpPr/>
          <p:nvPr/>
        </p:nvSpPr>
        <p:spPr>
          <a:xfrm>
            <a:off x="1115568" y="3456432"/>
            <a:ext cx="4480560" cy="548640"/>
          </a:xfrm>
          <a:prstGeom prst="rect">
            <a:avLst/>
          </a:prstGeom>
          <a:noFill/>
          <a:ln/>
        </p:spPr>
        <p:txBody>
          <a:bodyPr wrap="square" lIns="0" tIns="0" rIns="0" bIns="0" rtlCol="0" anchor="ctr"/>
          <a:lstStyle/>
          <a:p>
            <a:pPr indent="0" marL="0">
              <a:buNone/>
            </a:pPr>
            <a:r>
              <a:rPr lang="en-US" sz="1400" dirty="0">
                <a:solidFill>
                  <a:srgbClr val="D8DCEF"/>
                </a:solidFill>
                <a:latin typeface="Calibri" pitchFamily="34" charset="0"/>
                <a:ea typeface="Calibri" pitchFamily="34" charset="-122"/>
                <a:cs typeface="Calibri" pitchFamily="34" charset="-120"/>
              </a:rPr>
              <a:t>Explainable (SHAP) and production-shaped</a:t>
            </a:r>
            <a:endParaRPr lang="en-US" sz="1400" dirty="0"/>
          </a:p>
        </p:txBody>
      </p:sp>
      <p:sp>
        <p:nvSpPr>
          <p:cNvPr id="11" name="Shape 9"/>
          <p:cNvSpPr/>
          <p:nvPr/>
        </p:nvSpPr>
        <p:spPr>
          <a:xfrm>
            <a:off x="868680" y="4197096"/>
            <a:ext cx="137160" cy="137160"/>
          </a:xfrm>
          <a:prstGeom prst="roundRect">
            <a:avLst>
              <a:gd name="adj" fmla="val 46667"/>
            </a:avLst>
          </a:prstGeom>
          <a:solidFill>
            <a:srgbClr val="3ECF8E"/>
          </a:solidFill>
          <a:ln/>
        </p:spPr>
      </p:sp>
      <p:sp>
        <p:nvSpPr>
          <p:cNvPr id="12" name="Text 10"/>
          <p:cNvSpPr/>
          <p:nvPr/>
        </p:nvSpPr>
        <p:spPr>
          <a:xfrm>
            <a:off x="1115568" y="4059936"/>
            <a:ext cx="4480560" cy="548640"/>
          </a:xfrm>
          <a:prstGeom prst="rect">
            <a:avLst/>
          </a:prstGeom>
          <a:noFill/>
          <a:ln/>
        </p:spPr>
        <p:txBody>
          <a:bodyPr wrap="square" lIns="0" tIns="0" rIns="0" bIns="0" rtlCol="0" anchor="ctr"/>
          <a:lstStyle/>
          <a:p>
            <a:pPr indent="0" marL="0">
              <a:buNone/>
            </a:pPr>
            <a:r>
              <a:rPr lang="en-US" sz="1400" dirty="0">
                <a:solidFill>
                  <a:srgbClr val="D8DCEF"/>
                </a:solidFill>
                <a:latin typeface="Calibri" pitchFamily="34" charset="0"/>
                <a:ea typeface="Calibri" pitchFamily="34" charset="-122"/>
                <a:cs typeface="Calibri" pitchFamily="34" charset="-120"/>
              </a:rPr>
              <a:t>Derived, transparent ROI + sensitivity</a:t>
            </a:r>
            <a:endParaRPr lang="en-US" sz="1400" dirty="0"/>
          </a:p>
        </p:txBody>
      </p:sp>
      <p:sp>
        <p:nvSpPr>
          <p:cNvPr id="13" name="Shape 11"/>
          <p:cNvSpPr/>
          <p:nvPr/>
        </p:nvSpPr>
        <p:spPr>
          <a:xfrm>
            <a:off x="6126480" y="2194560"/>
            <a:ext cx="5394960" cy="2743200"/>
          </a:xfrm>
          <a:prstGeom prst="roundRect">
            <a:avLst>
              <a:gd name="adj" fmla="val 4000"/>
            </a:avLst>
          </a:prstGeom>
          <a:solidFill>
            <a:srgbClr val="1A1E30"/>
          </a:solidFill>
          <a:ln w="12700">
            <a:solidFill>
              <a:srgbClr val="2E3450"/>
            </a:solidFill>
            <a:prstDash val="solid"/>
          </a:ln>
        </p:spPr>
      </p:sp>
      <p:sp>
        <p:nvSpPr>
          <p:cNvPr id="14" name="Text 12"/>
          <p:cNvSpPr/>
          <p:nvPr/>
        </p:nvSpPr>
        <p:spPr>
          <a:xfrm>
            <a:off x="6446520" y="2395728"/>
            <a:ext cx="4754880" cy="411480"/>
          </a:xfrm>
          <a:prstGeom prst="rect">
            <a:avLst/>
          </a:prstGeom>
          <a:noFill/>
          <a:ln/>
        </p:spPr>
        <p:txBody>
          <a:bodyPr wrap="square" lIns="0" tIns="0" rIns="0" bIns="0" rtlCol="0" anchor="ctr"/>
          <a:lstStyle/>
          <a:p>
            <a:pPr indent="0" marL="0">
              <a:buNone/>
            </a:pPr>
            <a:r>
              <a:rPr lang="en-US" sz="1900" b="1" dirty="0">
                <a:solidFill>
                  <a:srgbClr val="F0A04B"/>
                </a:solidFill>
                <a:latin typeface="Bookman Old Style" pitchFamily="34" charset="0"/>
                <a:ea typeface="Bookman Old Style" pitchFamily="34" charset="-122"/>
                <a:cs typeface="Bookman Old Style" pitchFamily="34" charset="-120"/>
              </a:rPr>
              <a:t>Next steps</a:t>
            </a:r>
            <a:endParaRPr lang="en-US" sz="1900" dirty="0"/>
          </a:p>
        </p:txBody>
      </p:sp>
      <p:sp>
        <p:nvSpPr>
          <p:cNvPr id="15" name="Shape 13"/>
          <p:cNvSpPr/>
          <p:nvPr/>
        </p:nvSpPr>
        <p:spPr>
          <a:xfrm>
            <a:off x="6446520" y="2990088"/>
            <a:ext cx="137160" cy="137160"/>
          </a:xfrm>
          <a:prstGeom prst="roundRect">
            <a:avLst>
              <a:gd name="adj" fmla="val 46667"/>
            </a:avLst>
          </a:prstGeom>
          <a:solidFill>
            <a:srgbClr val="F0A04B"/>
          </a:solidFill>
          <a:ln/>
        </p:spPr>
      </p:sp>
      <p:sp>
        <p:nvSpPr>
          <p:cNvPr id="16" name="Text 14"/>
          <p:cNvSpPr/>
          <p:nvPr/>
        </p:nvSpPr>
        <p:spPr>
          <a:xfrm>
            <a:off x="6693408" y="2852928"/>
            <a:ext cx="4480560" cy="548640"/>
          </a:xfrm>
          <a:prstGeom prst="rect">
            <a:avLst/>
          </a:prstGeom>
          <a:noFill/>
          <a:ln/>
        </p:spPr>
        <p:txBody>
          <a:bodyPr wrap="square" lIns="0" tIns="0" rIns="0" bIns="0" rtlCol="0" anchor="ctr"/>
          <a:lstStyle/>
          <a:p>
            <a:pPr indent="0" marL="0">
              <a:buNone/>
            </a:pPr>
            <a:r>
              <a:rPr lang="en-US" sz="1400" dirty="0">
                <a:solidFill>
                  <a:srgbClr val="D8DCEF"/>
                </a:solidFill>
                <a:latin typeface="Calibri" pitchFamily="34" charset="0"/>
                <a:ea typeface="Calibri" pitchFamily="34" charset="-122"/>
                <a:cs typeface="Calibri" pitchFamily="34" charset="-120"/>
              </a:rPr>
              <a:t>Pilot on 1,000 customers</a:t>
            </a:r>
            <a:endParaRPr lang="en-US" sz="1400" dirty="0"/>
          </a:p>
        </p:txBody>
      </p:sp>
      <p:sp>
        <p:nvSpPr>
          <p:cNvPr id="17" name="Shape 15"/>
          <p:cNvSpPr/>
          <p:nvPr/>
        </p:nvSpPr>
        <p:spPr>
          <a:xfrm>
            <a:off x="6446520" y="3593592"/>
            <a:ext cx="137160" cy="137160"/>
          </a:xfrm>
          <a:prstGeom prst="roundRect">
            <a:avLst>
              <a:gd name="adj" fmla="val 46667"/>
            </a:avLst>
          </a:prstGeom>
          <a:solidFill>
            <a:srgbClr val="F0A04B"/>
          </a:solidFill>
          <a:ln/>
        </p:spPr>
      </p:sp>
      <p:sp>
        <p:nvSpPr>
          <p:cNvPr id="18" name="Text 16"/>
          <p:cNvSpPr/>
          <p:nvPr/>
        </p:nvSpPr>
        <p:spPr>
          <a:xfrm>
            <a:off x="6693408" y="3456432"/>
            <a:ext cx="4480560" cy="548640"/>
          </a:xfrm>
          <a:prstGeom prst="rect">
            <a:avLst/>
          </a:prstGeom>
          <a:noFill/>
          <a:ln/>
        </p:spPr>
        <p:txBody>
          <a:bodyPr wrap="square" lIns="0" tIns="0" rIns="0" bIns="0" rtlCol="0" anchor="ctr"/>
          <a:lstStyle/>
          <a:p>
            <a:pPr indent="0" marL="0">
              <a:buNone/>
            </a:pPr>
            <a:r>
              <a:rPr lang="en-US" sz="1400" dirty="0">
                <a:solidFill>
                  <a:srgbClr val="D8DCEF"/>
                </a:solidFill>
                <a:latin typeface="Calibri" pitchFamily="34" charset="0"/>
                <a:ea typeface="Calibri" pitchFamily="34" charset="-122"/>
                <a:cs typeface="Calibri" pitchFamily="34" charset="-120"/>
              </a:rPr>
              <a:t>A/B test retention interventions</a:t>
            </a:r>
            <a:endParaRPr lang="en-US" sz="1400" dirty="0"/>
          </a:p>
        </p:txBody>
      </p:sp>
      <p:sp>
        <p:nvSpPr>
          <p:cNvPr id="19" name="Shape 17"/>
          <p:cNvSpPr/>
          <p:nvPr/>
        </p:nvSpPr>
        <p:spPr>
          <a:xfrm>
            <a:off x="6446520" y="4197096"/>
            <a:ext cx="137160" cy="137160"/>
          </a:xfrm>
          <a:prstGeom prst="roundRect">
            <a:avLst>
              <a:gd name="adj" fmla="val 46667"/>
            </a:avLst>
          </a:prstGeom>
          <a:solidFill>
            <a:srgbClr val="F0A04B"/>
          </a:solidFill>
          <a:ln/>
        </p:spPr>
      </p:sp>
      <p:sp>
        <p:nvSpPr>
          <p:cNvPr id="20" name="Text 18"/>
          <p:cNvSpPr/>
          <p:nvPr/>
        </p:nvSpPr>
        <p:spPr>
          <a:xfrm>
            <a:off x="6693408" y="4059936"/>
            <a:ext cx="4480560" cy="548640"/>
          </a:xfrm>
          <a:prstGeom prst="rect">
            <a:avLst/>
          </a:prstGeom>
          <a:noFill/>
          <a:ln/>
        </p:spPr>
        <p:txBody>
          <a:bodyPr wrap="square" lIns="0" tIns="0" rIns="0" bIns="0" rtlCol="0" anchor="ctr"/>
          <a:lstStyle/>
          <a:p>
            <a:pPr indent="0" marL="0">
              <a:buNone/>
            </a:pPr>
            <a:r>
              <a:rPr lang="en-US" sz="1400" dirty="0">
                <a:solidFill>
                  <a:srgbClr val="D8DCEF"/>
                </a:solidFill>
                <a:latin typeface="Calibri" pitchFamily="34" charset="0"/>
                <a:ea typeface="Calibri" pitchFamily="34" charset="-122"/>
                <a:cs typeface="Calibri" pitchFamily="34" charset="-120"/>
              </a:rPr>
              <a:t>Improve precision; cloud batch scoring</a:t>
            </a:r>
            <a:endParaRPr lang="en-US" sz="1400" dirty="0"/>
          </a:p>
        </p:txBody>
      </p:sp>
      <p:sp>
        <p:nvSpPr>
          <p:cNvPr id="21" name="Shape 19"/>
          <p:cNvSpPr/>
          <p:nvPr/>
        </p:nvSpPr>
        <p:spPr>
          <a:xfrm>
            <a:off x="548640" y="5166360"/>
            <a:ext cx="11091672" cy="960120"/>
          </a:xfrm>
          <a:prstGeom prst="roundRect">
            <a:avLst>
              <a:gd name="adj" fmla="val 11429"/>
            </a:avLst>
          </a:prstGeom>
          <a:solidFill>
            <a:srgbClr val="232840"/>
          </a:solidFill>
          <a:ln w="12700">
            <a:solidFill>
              <a:srgbClr val="2E3450"/>
            </a:solidFill>
            <a:prstDash val="solid"/>
          </a:ln>
        </p:spPr>
      </p:sp>
      <p:sp>
        <p:nvSpPr>
          <p:cNvPr id="22" name="Text 20"/>
          <p:cNvSpPr/>
          <p:nvPr/>
        </p:nvSpPr>
        <p:spPr>
          <a:xfrm>
            <a:off x="822960" y="5166360"/>
            <a:ext cx="10607040" cy="960120"/>
          </a:xfrm>
          <a:prstGeom prst="rect">
            <a:avLst/>
          </a:prstGeom>
          <a:noFill/>
          <a:ln/>
        </p:spPr>
        <p:txBody>
          <a:bodyPr wrap="square" lIns="0" tIns="0" rIns="0" bIns="0" rtlCol="0" anchor="ctr"/>
          <a:lstStyle/>
          <a:p>
            <a:pPr indent="0" marL="0">
              <a:buNone/>
            </a:pPr>
            <a:r>
              <a:rPr lang="en-US" sz="1500" b="1" dirty="0">
                <a:solidFill>
                  <a:srgbClr val="6C8CFF"/>
                </a:solidFill>
                <a:latin typeface="Calibri" pitchFamily="34" charset="0"/>
                <a:ea typeface="Calibri" pitchFamily="34" charset="-122"/>
                <a:cs typeface="Calibri" pitchFamily="34" charset="-120"/>
              </a:rPr>
              <a:t>Source code:  </a:t>
            </a:r>
            <a:pPr indent="0" marL="0">
              <a:buNone/>
            </a:pPr>
            <a:r>
              <a:rPr lang="en-US" sz="1500" dirty="0">
                <a:solidFill>
                  <a:srgbClr val="FFFFFF"/>
                </a:solidFill>
                <a:latin typeface="Consolas" pitchFamily="34" charset="0"/>
                <a:ea typeface="Consolas" pitchFamily="34" charset="-122"/>
                <a:cs typeface="Consolas" pitchFamily="34" charset="-120"/>
              </a:rPr>
              <a:t>github.com/maydamv/customer-churn-prediction</a:t>
            </a:r>
            <a:pPr indent="0" marL="0">
              <a:buNone/>
            </a:pPr>
            <a:r>
              <a:rPr lang="en-US" sz="1500" i="1" dirty="0">
                <a:solidFill>
                  <a:srgbClr val="9AA0BD"/>
                </a:solidFill>
                <a:latin typeface="Calibri" pitchFamily="34" charset="0"/>
                <a:ea typeface="Calibri" pitchFamily="34" charset="-122"/>
                <a:cs typeface="Calibri" pitchFamily="34" charset="-120"/>
              </a:rPr>
              <a:t>        Thank you — questions welcome.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2026-07-16T18:53:36Z</dcterms:created>
  <dcterms:modified xsi:type="dcterms:W3CDTF">2026-07-16T18:53:36Z</dcterms:modified>
</cp:coreProperties>
</file>